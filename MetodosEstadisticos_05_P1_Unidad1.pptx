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0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84" r:id="rId2"/>
    <p:sldId id="285" r:id="rId3"/>
    <p:sldId id="280" r:id="rId4"/>
    <p:sldId id="281" r:id="rId5"/>
    <p:sldId id="282" r:id="rId6"/>
    <p:sldId id="259" r:id="rId7"/>
    <p:sldId id="295" r:id="rId8"/>
    <p:sldId id="296" r:id="rId9"/>
    <p:sldId id="260" r:id="rId10"/>
    <p:sldId id="294" r:id="rId11"/>
    <p:sldId id="297" r:id="rId12"/>
    <p:sldId id="288" r:id="rId13"/>
    <p:sldId id="298" r:id="rId14"/>
    <p:sldId id="299" r:id="rId15"/>
    <p:sldId id="318" r:id="rId16"/>
    <p:sldId id="319" r:id="rId17"/>
    <p:sldId id="291" r:id="rId18"/>
    <p:sldId id="289" r:id="rId19"/>
    <p:sldId id="300" r:id="rId20"/>
    <p:sldId id="301" r:id="rId21"/>
    <p:sldId id="302" r:id="rId22"/>
    <p:sldId id="303" r:id="rId23"/>
    <p:sldId id="305" r:id="rId24"/>
    <p:sldId id="304" r:id="rId25"/>
    <p:sldId id="306" r:id="rId26"/>
    <p:sldId id="307" r:id="rId27"/>
    <p:sldId id="310" r:id="rId28"/>
    <p:sldId id="311" r:id="rId29"/>
    <p:sldId id="308" r:id="rId30"/>
    <p:sldId id="309" r:id="rId31"/>
    <p:sldId id="313" r:id="rId32"/>
    <p:sldId id="314" r:id="rId33"/>
    <p:sldId id="315" r:id="rId34"/>
    <p:sldId id="316" r:id="rId35"/>
    <p:sldId id="317" r:id="rId36"/>
    <p:sldId id="320" r:id="rId37"/>
    <p:sldId id="293" r:id="rId38"/>
  </p:sldIdLst>
  <p:sldSz cx="12192000" cy="6858000"/>
  <p:notesSz cx="6858000" cy="9144000"/>
  <p:custDataLst>
    <p:tags r:id="rId41"/>
  </p:custDataLst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023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80464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20697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60929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011623" algn="l" defTabSz="80464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413947" algn="l" defTabSz="80464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2816272" algn="l" defTabSz="80464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218597" algn="l" defTabSz="80464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48B"/>
    <a:srgbClr val="C6CCE1"/>
    <a:srgbClr val="6082AE"/>
    <a:srgbClr val="FF9800"/>
    <a:srgbClr val="F8F8F8"/>
    <a:srgbClr val="FFFFFF"/>
    <a:srgbClr val="00538A"/>
    <a:srgbClr val="B78400"/>
    <a:srgbClr val="000000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60" d="100"/>
          <a:sy n="60" d="100"/>
        </p:scale>
        <p:origin x="840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293FFD-4EF3-4A70-91F5-803826233DF7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0D27F2BB-DB84-4518-AC8F-5D5D6DA65783}">
      <dgm:prSet phldrT="[Text]"/>
      <dgm:spPr/>
      <dgm:t>
        <a:bodyPr/>
        <a:lstStyle/>
        <a:p>
          <a:r>
            <a:rPr lang="en-GB" dirty="0"/>
            <a:t>Variables </a:t>
          </a:r>
          <a:r>
            <a:rPr lang="en-GB" dirty="0" err="1"/>
            <a:t>Numéricas</a:t>
          </a:r>
          <a:endParaRPr lang="es-EC" dirty="0"/>
        </a:p>
      </dgm:t>
    </dgm:pt>
    <dgm:pt modelId="{AE825C13-AB75-4FC5-B55F-9F19ED89BEAB}" type="parTrans" cxnId="{9FA96DFD-9DA8-4DF2-8726-DBC9466B9DEB}">
      <dgm:prSet/>
      <dgm:spPr/>
      <dgm:t>
        <a:bodyPr/>
        <a:lstStyle/>
        <a:p>
          <a:endParaRPr lang="es-EC"/>
        </a:p>
      </dgm:t>
    </dgm:pt>
    <dgm:pt modelId="{3BC14A6C-7078-4F0E-BD6E-5C12E1A5AF87}" type="sibTrans" cxnId="{9FA96DFD-9DA8-4DF2-8726-DBC9466B9DEB}">
      <dgm:prSet/>
      <dgm:spPr/>
      <dgm:t>
        <a:bodyPr/>
        <a:lstStyle/>
        <a:p>
          <a:endParaRPr lang="es-EC"/>
        </a:p>
      </dgm:t>
    </dgm:pt>
    <dgm:pt modelId="{A11A112E-69DC-42A0-A3CC-FB2229FB4BD2}">
      <dgm:prSet phldrT="[Text]"/>
      <dgm:spPr/>
      <dgm:t>
        <a:bodyPr/>
        <a:lstStyle/>
        <a:p>
          <a:r>
            <a:rPr lang="en-GB" dirty="0" err="1"/>
            <a:t>Continuas</a:t>
          </a:r>
          <a:r>
            <a:rPr lang="en-GB" dirty="0"/>
            <a:t>: </a:t>
          </a:r>
          <a:r>
            <a:rPr lang="en-GB" dirty="0" err="1"/>
            <a:t>num</a:t>
          </a:r>
          <a:r>
            <a:rPr lang="en-GB" dirty="0"/>
            <a:t> (</a:t>
          </a:r>
          <a:r>
            <a:rPr lang="en-GB" dirty="0" err="1"/>
            <a:t>fechas</a:t>
          </a:r>
          <a:r>
            <a:rPr lang="en-GB" dirty="0"/>
            <a:t>: Date, POSIX)</a:t>
          </a:r>
          <a:endParaRPr lang="es-EC" dirty="0"/>
        </a:p>
      </dgm:t>
    </dgm:pt>
    <dgm:pt modelId="{AAB72009-73EA-4ED1-A68F-4B3DC58581B3}" type="parTrans" cxnId="{5413D560-8783-48AE-A542-14E72FCFF6ED}">
      <dgm:prSet/>
      <dgm:spPr/>
      <dgm:t>
        <a:bodyPr/>
        <a:lstStyle/>
        <a:p>
          <a:endParaRPr lang="es-EC"/>
        </a:p>
      </dgm:t>
    </dgm:pt>
    <dgm:pt modelId="{8529DDCD-DD1D-473B-96CC-5E3D7D501006}" type="sibTrans" cxnId="{5413D560-8783-48AE-A542-14E72FCFF6ED}">
      <dgm:prSet/>
      <dgm:spPr/>
      <dgm:t>
        <a:bodyPr/>
        <a:lstStyle/>
        <a:p>
          <a:endParaRPr lang="es-EC"/>
        </a:p>
      </dgm:t>
    </dgm:pt>
    <dgm:pt modelId="{05C76ED2-6638-44FC-A2A2-5E5CCA1A786D}">
      <dgm:prSet phldrT="[Text]"/>
      <dgm:spPr/>
      <dgm:t>
        <a:bodyPr/>
        <a:lstStyle/>
        <a:p>
          <a:r>
            <a:rPr lang="en-GB" dirty="0"/>
            <a:t>Variables </a:t>
          </a:r>
          <a:r>
            <a:rPr lang="en-GB" dirty="0" err="1"/>
            <a:t>Categóricas</a:t>
          </a:r>
          <a:endParaRPr lang="es-EC" dirty="0"/>
        </a:p>
      </dgm:t>
    </dgm:pt>
    <dgm:pt modelId="{6CFB5CDB-36C5-4EA2-BA64-6F0CA8F3F948}" type="parTrans" cxnId="{D95EAD9B-7AC4-4518-AA88-A749C69DFF9C}">
      <dgm:prSet/>
      <dgm:spPr/>
      <dgm:t>
        <a:bodyPr/>
        <a:lstStyle/>
        <a:p>
          <a:endParaRPr lang="es-EC"/>
        </a:p>
      </dgm:t>
    </dgm:pt>
    <dgm:pt modelId="{EE9357CE-2ECB-4B1D-8C7A-A47A307B6673}" type="sibTrans" cxnId="{D95EAD9B-7AC4-4518-AA88-A749C69DFF9C}">
      <dgm:prSet/>
      <dgm:spPr/>
      <dgm:t>
        <a:bodyPr/>
        <a:lstStyle/>
        <a:p>
          <a:endParaRPr lang="es-EC"/>
        </a:p>
      </dgm:t>
    </dgm:pt>
    <dgm:pt modelId="{1A37B367-20C0-4BA3-9378-109C25F3249B}">
      <dgm:prSet phldrT="[Text]"/>
      <dgm:spPr/>
      <dgm:t>
        <a:bodyPr/>
        <a:lstStyle/>
        <a:p>
          <a:r>
            <a:rPr lang="en-GB" dirty="0" err="1"/>
            <a:t>Nominales</a:t>
          </a:r>
          <a:r>
            <a:rPr lang="en-GB" dirty="0"/>
            <a:t>: chr, factor</a:t>
          </a:r>
          <a:endParaRPr lang="es-EC" dirty="0"/>
        </a:p>
      </dgm:t>
    </dgm:pt>
    <dgm:pt modelId="{C6DBDCF8-7373-47AE-A295-73FB73780018}" type="parTrans" cxnId="{5A4EE631-7C7A-4E23-823C-04EEFED5FDC5}">
      <dgm:prSet/>
      <dgm:spPr/>
      <dgm:t>
        <a:bodyPr/>
        <a:lstStyle/>
        <a:p>
          <a:endParaRPr lang="es-EC"/>
        </a:p>
      </dgm:t>
    </dgm:pt>
    <dgm:pt modelId="{1D6E6A73-E774-4CB7-AED6-E7A885570E10}" type="sibTrans" cxnId="{5A4EE631-7C7A-4E23-823C-04EEFED5FDC5}">
      <dgm:prSet/>
      <dgm:spPr/>
      <dgm:t>
        <a:bodyPr/>
        <a:lstStyle/>
        <a:p>
          <a:endParaRPr lang="es-EC"/>
        </a:p>
      </dgm:t>
    </dgm:pt>
    <dgm:pt modelId="{16D748EC-B63E-4AC5-90C5-ED854F7CB5B4}">
      <dgm:prSet phldrT="[Text]"/>
      <dgm:spPr/>
      <dgm:t>
        <a:bodyPr/>
        <a:lstStyle/>
        <a:p>
          <a:r>
            <a:rPr lang="en-GB" dirty="0" err="1"/>
            <a:t>Ordinales</a:t>
          </a:r>
          <a:r>
            <a:rPr lang="en-GB" dirty="0"/>
            <a:t>: chr, factor</a:t>
          </a:r>
          <a:endParaRPr lang="es-EC" dirty="0"/>
        </a:p>
      </dgm:t>
    </dgm:pt>
    <dgm:pt modelId="{2868E4A8-5BEA-4666-8A38-15CD795E6754}" type="parTrans" cxnId="{51E0B480-72CB-4F48-BFF2-1A91088A2583}">
      <dgm:prSet/>
      <dgm:spPr/>
      <dgm:t>
        <a:bodyPr/>
        <a:lstStyle/>
        <a:p>
          <a:endParaRPr lang="es-EC"/>
        </a:p>
      </dgm:t>
    </dgm:pt>
    <dgm:pt modelId="{BAFBF8BE-4526-45E1-8085-FD78602476BC}" type="sibTrans" cxnId="{51E0B480-72CB-4F48-BFF2-1A91088A2583}">
      <dgm:prSet/>
      <dgm:spPr/>
      <dgm:t>
        <a:bodyPr/>
        <a:lstStyle/>
        <a:p>
          <a:endParaRPr lang="es-EC"/>
        </a:p>
      </dgm:t>
    </dgm:pt>
    <dgm:pt modelId="{64CD40E6-F96C-4F40-B486-4C971E4E2EC2}">
      <dgm:prSet phldrT="[Text]"/>
      <dgm:spPr/>
      <dgm:t>
        <a:bodyPr/>
        <a:lstStyle/>
        <a:p>
          <a:r>
            <a:rPr lang="en-GB" dirty="0" err="1"/>
            <a:t>Discretas</a:t>
          </a:r>
          <a:r>
            <a:rPr lang="en-GB" dirty="0"/>
            <a:t>: </a:t>
          </a:r>
          <a:r>
            <a:rPr lang="en-GB" dirty="0" err="1"/>
            <a:t>num</a:t>
          </a:r>
          <a:r>
            <a:rPr lang="en-GB" dirty="0"/>
            <a:t>, int</a:t>
          </a:r>
          <a:endParaRPr lang="es-EC" dirty="0"/>
        </a:p>
      </dgm:t>
    </dgm:pt>
    <dgm:pt modelId="{46799C4C-CF54-4AC7-8CC5-BC3A5F01DC66}" type="parTrans" cxnId="{9E666C98-7B65-4387-9987-41979FF868DE}">
      <dgm:prSet/>
      <dgm:spPr/>
      <dgm:t>
        <a:bodyPr/>
        <a:lstStyle/>
        <a:p>
          <a:endParaRPr lang="es-EC"/>
        </a:p>
      </dgm:t>
    </dgm:pt>
    <dgm:pt modelId="{15F11B54-4EF0-43EB-BEC5-DADC5F98033D}" type="sibTrans" cxnId="{9E666C98-7B65-4387-9987-41979FF868DE}">
      <dgm:prSet/>
      <dgm:spPr/>
      <dgm:t>
        <a:bodyPr/>
        <a:lstStyle/>
        <a:p>
          <a:endParaRPr lang="es-EC"/>
        </a:p>
      </dgm:t>
    </dgm:pt>
    <dgm:pt modelId="{BC18342E-4D1A-4E82-9D08-2E9567DF1554}" type="pres">
      <dgm:prSet presAssocID="{E2293FFD-4EF3-4A70-91F5-803826233DF7}" presName="Name0" presStyleCnt="0">
        <dgm:presLayoutVars>
          <dgm:dir/>
          <dgm:animLvl val="lvl"/>
          <dgm:resizeHandles/>
        </dgm:presLayoutVars>
      </dgm:prSet>
      <dgm:spPr/>
    </dgm:pt>
    <dgm:pt modelId="{8C6BFE33-43C4-412E-8F16-8F63CC98DBA5}" type="pres">
      <dgm:prSet presAssocID="{0D27F2BB-DB84-4518-AC8F-5D5D6DA65783}" presName="linNode" presStyleCnt="0"/>
      <dgm:spPr/>
    </dgm:pt>
    <dgm:pt modelId="{061CECE5-3B35-4A62-AAF7-5651A09D0DAC}" type="pres">
      <dgm:prSet presAssocID="{0D27F2BB-DB84-4518-AC8F-5D5D6DA65783}" presName="parentShp" presStyleLbl="node1" presStyleIdx="0" presStyleCnt="2">
        <dgm:presLayoutVars>
          <dgm:bulletEnabled val="1"/>
        </dgm:presLayoutVars>
      </dgm:prSet>
      <dgm:spPr/>
    </dgm:pt>
    <dgm:pt modelId="{CE294F31-9FD4-4556-AAE2-E1FA0DA42EFE}" type="pres">
      <dgm:prSet presAssocID="{0D27F2BB-DB84-4518-AC8F-5D5D6DA65783}" presName="childShp" presStyleLbl="bgAccFollowNode1" presStyleIdx="0" presStyleCnt="2">
        <dgm:presLayoutVars>
          <dgm:bulletEnabled val="1"/>
        </dgm:presLayoutVars>
      </dgm:prSet>
      <dgm:spPr/>
    </dgm:pt>
    <dgm:pt modelId="{0A6090A5-40B5-48C7-982F-FE2B6C09D7A7}" type="pres">
      <dgm:prSet presAssocID="{3BC14A6C-7078-4F0E-BD6E-5C12E1A5AF87}" presName="spacing" presStyleCnt="0"/>
      <dgm:spPr/>
    </dgm:pt>
    <dgm:pt modelId="{FE00F889-0E9F-4267-8337-22DE78C5F773}" type="pres">
      <dgm:prSet presAssocID="{05C76ED2-6638-44FC-A2A2-5E5CCA1A786D}" presName="linNode" presStyleCnt="0"/>
      <dgm:spPr/>
    </dgm:pt>
    <dgm:pt modelId="{100D59CB-FB9A-4782-87CF-8652409704AB}" type="pres">
      <dgm:prSet presAssocID="{05C76ED2-6638-44FC-A2A2-5E5CCA1A786D}" presName="parentShp" presStyleLbl="node1" presStyleIdx="1" presStyleCnt="2">
        <dgm:presLayoutVars>
          <dgm:bulletEnabled val="1"/>
        </dgm:presLayoutVars>
      </dgm:prSet>
      <dgm:spPr/>
    </dgm:pt>
    <dgm:pt modelId="{E8FA77FD-6A5C-413A-9500-9F62A4AA8DF0}" type="pres">
      <dgm:prSet presAssocID="{05C76ED2-6638-44FC-A2A2-5E5CCA1A786D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5A4EE631-7C7A-4E23-823C-04EEFED5FDC5}" srcId="{05C76ED2-6638-44FC-A2A2-5E5CCA1A786D}" destId="{1A37B367-20C0-4BA3-9378-109C25F3249B}" srcOrd="0" destOrd="0" parTransId="{C6DBDCF8-7373-47AE-A295-73FB73780018}" sibTransId="{1D6E6A73-E774-4CB7-AED6-E7A885570E10}"/>
    <dgm:cxn modelId="{5413D560-8783-48AE-A542-14E72FCFF6ED}" srcId="{0D27F2BB-DB84-4518-AC8F-5D5D6DA65783}" destId="{A11A112E-69DC-42A0-A3CC-FB2229FB4BD2}" srcOrd="0" destOrd="0" parTransId="{AAB72009-73EA-4ED1-A68F-4B3DC58581B3}" sibTransId="{8529DDCD-DD1D-473B-96CC-5E3D7D501006}"/>
    <dgm:cxn modelId="{7BEA247C-8CF8-46F6-9F01-F92D48D4AFD4}" type="presOf" srcId="{A11A112E-69DC-42A0-A3CC-FB2229FB4BD2}" destId="{CE294F31-9FD4-4556-AAE2-E1FA0DA42EFE}" srcOrd="0" destOrd="0" presId="urn:microsoft.com/office/officeart/2005/8/layout/vList6"/>
    <dgm:cxn modelId="{51E0B480-72CB-4F48-BFF2-1A91088A2583}" srcId="{05C76ED2-6638-44FC-A2A2-5E5CCA1A786D}" destId="{16D748EC-B63E-4AC5-90C5-ED854F7CB5B4}" srcOrd="1" destOrd="0" parTransId="{2868E4A8-5BEA-4666-8A38-15CD795E6754}" sibTransId="{BAFBF8BE-4526-45E1-8085-FD78602476BC}"/>
    <dgm:cxn modelId="{09C5D583-9A9C-46AE-8885-A15E253C5BB9}" type="presOf" srcId="{16D748EC-B63E-4AC5-90C5-ED854F7CB5B4}" destId="{E8FA77FD-6A5C-413A-9500-9F62A4AA8DF0}" srcOrd="0" destOrd="1" presId="urn:microsoft.com/office/officeart/2005/8/layout/vList6"/>
    <dgm:cxn modelId="{27DD858B-5C78-451A-98F5-AE5FD1F4E6E9}" type="presOf" srcId="{05C76ED2-6638-44FC-A2A2-5E5CCA1A786D}" destId="{100D59CB-FB9A-4782-87CF-8652409704AB}" srcOrd="0" destOrd="0" presId="urn:microsoft.com/office/officeart/2005/8/layout/vList6"/>
    <dgm:cxn modelId="{CB84CC90-2BA6-4833-B9B1-8855842C8D07}" type="presOf" srcId="{1A37B367-20C0-4BA3-9378-109C25F3249B}" destId="{E8FA77FD-6A5C-413A-9500-9F62A4AA8DF0}" srcOrd="0" destOrd="0" presId="urn:microsoft.com/office/officeart/2005/8/layout/vList6"/>
    <dgm:cxn modelId="{9E666C98-7B65-4387-9987-41979FF868DE}" srcId="{0D27F2BB-DB84-4518-AC8F-5D5D6DA65783}" destId="{64CD40E6-F96C-4F40-B486-4C971E4E2EC2}" srcOrd="1" destOrd="0" parTransId="{46799C4C-CF54-4AC7-8CC5-BC3A5F01DC66}" sibTransId="{15F11B54-4EF0-43EB-BEC5-DADC5F98033D}"/>
    <dgm:cxn modelId="{08572E9B-B7AF-40EA-918D-36F5427EF517}" type="presOf" srcId="{64CD40E6-F96C-4F40-B486-4C971E4E2EC2}" destId="{CE294F31-9FD4-4556-AAE2-E1FA0DA42EFE}" srcOrd="0" destOrd="1" presId="urn:microsoft.com/office/officeart/2005/8/layout/vList6"/>
    <dgm:cxn modelId="{D95EAD9B-7AC4-4518-AA88-A749C69DFF9C}" srcId="{E2293FFD-4EF3-4A70-91F5-803826233DF7}" destId="{05C76ED2-6638-44FC-A2A2-5E5CCA1A786D}" srcOrd="1" destOrd="0" parTransId="{6CFB5CDB-36C5-4EA2-BA64-6F0CA8F3F948}" sibTransId="{EE9357CE-2ECB-4B1D-8C7A-A47A307B6673}"/>
    <dgm:cxn modelId="{F6EEF69D-FD7B-495F-9E1B-13ABB2B593BD}" type="presOf" srcId="{E2293FFD-4EF3-4A70-91F5-803826233DF7}" destId="{BC18342E-4D1A-4E82-9D08-2E9567DF1554}" srcOrd="0" destOrd="0" presId="urn:microsoft.com/office/officeart/2005/8/layout/vList6"/>
    <dgm:cxn modelId="{6D4C06D9-213F-45AC-BBFC-A2ED42B9E0AA}" type="presOf" srcId="{0D27F2BB-DB84-4518-AC8F-5D5D6DA65783}" destId="{061CECE5-3B35-4A62-AAF7-5651A09D0DAC}" srcOrd="0" destOrd="0" presId="urn:microsoft.com/office/officeart/2005/8/layout/vList6"/>
    <dgm:cxn modelId="{9FA96DFD-9DA8-4DF2-8726-DBC9466B9DEB}" srcId="{E2293FFD-4EF3-4A70-91F5-803826233DF7}" destId="{0D27F2BB-DB84-4518-AC8F-5D5D6DA65783}" srcOrd="0" destOrd="0" parTransId="{AE825C13-AB75-4FC5-B55F-9F19ED89BEAB}" sibTransId="{3BC14A6C-7078-4F0E-BD6E-5C12E1A5AF87}"/>
    <dgm:cxn modelId="{33CDBBFE-BDEC-46E4-8D9E-3BFAFDF67BE7}" type="presParOf" srcId="{BC18342E-4D1A-4E82-9D08-2E9567DF1554}" destId="{8C6BFE33-43C4-412E-8F16-8F63CC98DBA5}" srcOrd="0" destOrd="0" presId="urn:microsoft.com/office/officeart/2005/8/layout/vList6"/>
    <dgm:cxn modelId="{61DAD312-222E-4FB9-9C4B-E728B672439C}" type="presParOf" srcId="{8C6BFE33-43C4-412E-8F16-8F63CC98DBA5}" destId="{061CECE5-3B35-4A62-AAF7-5651A09D0DAC}" srcOrd="0" destOrd="0" presId="urn:microsoft.com/office/officeart/2005/8/layout/vList6"/>
    <dgm:cxn modelId="{9417059E-691C-4945-BADB-5D749669B99E}" type="presParOf" srcId="{8C6BFE33-43C4-412E-8F16-8F63CC98DBA5}" destId="{CE294F31-9FD4-4556-AAE2-E1FA0DA42EFE}" srcOrd="1" destOrd="0" presId="urn:microsoft.com/office/officeart/2005/8/layout/vList6"/>
    <dgm:cxn modelId="{07C47ADB-74F2-4DFA-843A-FA2C40701AAA}" type="presParOf" srcId="{BC18342E-4D1A-4E82-9D08-2E9567DF1554}" destId="{0A6090A5-40B5-48C7-982F-FE2B6C09D7A7}" srcOrd="1" destOrd="0" presId="urn:microsoft.com/office/officeart/2005/8/layout/vList6"/>
    <dgm:cxn modelId="{CEB6B05E-3C10-4D0A-8F2F-35BC01D362AC}" type="presParOf" srcId="{BC18342E-4D1A-4E82-9D08-2E9567DF1554}" destId="{FE00F889-0E9F-4267-8337-22DE78C5F773}" srcOrd="2" destOrd="0" presId="urn:microsoft.com/office/officeart/2005/8/layout/vList6"/>
    <dgm:cxn modelId="{C9D9F165-7006-49D8-B9BA-D7AEFA88E70A}" type="presParOf" srcId="{FE00F889-0E9F-4267-8337-22DE78C5F773}" destId="{100D59CB-FB9A-4782-87CF-8652409704AB}" srcOrd="0" destOrd="0" presId="urn:microsoft.com/office/officeart/2005/8/layout/vList6"/>
    <dgm:cxn modelId="{9E3467C8-8D0F-4794-9792-4CD990437217}" type="presParOf" srcId="{FE00F889-0E9F-4267-8337-22DE78C5F773}" destId="{E8FA77FD-6A5C-413A-9500-9F62A4AA8DF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6707D-2587-4D8C-92F4-930950DABC0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ADE59139-92E5-4206-BF77-4781FB1222AB}">
      <dgm:prSet phldrT="[Text]" custT="1"/>
      <dgm:spPr/>
      <dgm:t>
        <a:bodyPr/>
        <a:lstStyle/>
        <a:p>
          <a:r>
            <a:rPr lang="en-GB" sz="2000"/>
            <a:t>mutate</a:t>
          </a:r>
          <a:endParaRPr lang="es-EC" sz="2000" dirty="0"/>
        </a:p>
      </dgm:t>
    </dgm:pt>
    <dgm:pt modelId="{9D913CC2-D058-4F0E-8B14-B90CC3D1705C}" type="parTrans" cxnId="{2572B872-659B-43B8-A485-EC788EE620DB}">
      <dgm:prSet/>
      <dgm:spPr/>
      <dgm:t>
        <a:bodyPr/>
        <a:lstStyle/>
        <a:p>
          <a:endParaRPr lang="es-EC" sz="1600"/>
        </a:p>
      </dgm:t>
    </dgm:pt>
    <dgm:pt modelId="{40B49636-7DD4-48A0-A709-3A000570A652}" type="sibTrans" cxnId="{2572B872-659B-43B8-A485-EC788EE620DB}">
      <dgm:prSet/>
      <dgm:spPr/>
      <dgm:t>
        <a:bodyPr/>
        <a:lstStyle/>
        <a:p>
          <a:endParaRPr lang="es-EC" sz="1600"/>
        </a:p>
      </dgm:t>
    </dgm:pt>
    <dgm:pt modelId="{551ACBCD-59F8-4ED8-88C5-04DC7DF460A9}">
      <dgm:prSet phldrT="[Text]" custT="1"/>
      <dgm:spPr/>
      <dgm:t>
        <a:bodyPr/>
        <a:lstStyle/>
        <a:p>
          <a:r>
            <a:rPr lang="en-GB" sz="1600" dirty="0" err="1"/>
            <a:t>Proceso</a:t>
          </a:r>
          <a:r>
            <a:rPr lang="en-GB" sz="1600" dirty="0"/>
            <a:t> </a:t>
          </a:r>
          <a:r>
            <a:rPr lang="en-GB" sz="1600" dirty="0" err="1"/>
            <a:t>cambios</a:t>
          </a:r>
          <a:r>
            <a:rPr lang="en-GB" sz="1600" dirty="0"/>
            <a:t> </a:t>
          </a:r>
          <a:r>
            <a:rPr lang="en-GB" sz="1600" dirty="0" err="1"/>
            <a:t>en</a:t>
          </a:r>
          <a:r>
            <a:rPr lang="en-GB" sz="1600" dirty="0"/>
            <a:t> las </a:t>
          </a:r>
          <a:r>
            <a:rPr lang="en-GB" sz="1600" dirty="0" err="1"/>
            <a:t>columnas</a:t>
          </a:r>
          <a:r>
            <a:rPr lang="en-GB" sz="1600" dirty="0"/>
            <a:t> (</a:t>
          </a:r>
          <a:r>
            <a:rPr lang="en-GB" sz="1600" dirty="0" err="1"/>
            <a:t>crear</a:t>
          </a:r>
          <a:r>
            <a:rPr lang="en-GB" sz="1600" dirty="0"/>
            <a:t> </a:t>
          </a:r>
          <a:r>
            <a:rPr lang="en-GB" sz="1600" dirty="0" err="1"/>
            <a:t>nuevas</a:t>
          </a:r>
          <a:r>
            <a:rPr lang="en-GB" sz="1600" dirty="0"/>
            <a:t> </a:t>
          </a:r>
          <a:r>
            <a:rPr lang="en-GB" sz="1600" dirty="0" err="1"/>
            <a:t>columnas</a:t>
          </a:r>
          <a:r>
            <a:rPr lang="en-GB" sz="1600" dirty="0"/>
            <a:t> o </a:t>
          </a:r>
          <a:r>
            <a:rPr lang="en-GB" sz="1600" dirty="0" err="1"/>
            <a:t>reemplazarlas</a:t>
          </a:r>
          <a:r>
            <a:rPr lang="en-GB" sz="1600" dirty="0"/>
            <a:t>)</a:t>
          </a:r>
          <a:endParaRPr lang="es-EC" sz="1600" dirty="0"/>
        </a:p>
      </dgm:t>
    </dgm:pt>
    <dgm:pt modelId="{4482D1ED-4591-4AC3-8DE9-112F075E4770}" type="parTrans" cxnId="{5DBFB966-404C-40BF-BBC9-2DF5DDD587DA}">
      <dgm:prSet/>
      <dgm:spPr/>
      <dgm:t>
        <a:bodyPr/>
        <a:lstStyle/>
        <a:p>
          <a:endParaRPr lang="es-EC" sz="1600"/>
        </a:p>
      </dgm:t>
    </dgm:pt>
    <dgm:pt modelId="{9BDE4B73-A3F4-4F00-9EBB-0F379D9CA03F}" type="sibTrans" cxnId="{5DBFB966-404C-40BF-BBC9-2DF5DDD587DA}">
      <dgm:prSet/>
      <dgm:spPr/>
      <dgm:t>
        <a:bodyPr/>
        <a:lstStyle/>
        <a:p>
          <a:endParaRPr lang="es-EC" sz="1600"/>
        </a:p>
      </dgm:t>
    </dgm:pt>
    <dgm:pt modelId="{F9B7D749-6E49-4953-966E-93A86ABABDFA}">
      <dgm:prSet phldrT="[Text]" custT="1"/>
      <dgm:spPr/>
      <dgm:t>
        <a:bodyPr/>
        <a:lstStyle/>
        <a:p>
          <a:r>
            <a:rPr lang="en-GB" sz="2000"/>
            <a:t>inner_join</a:t>
          </a:r>
          <a:endParaRPr lang="es-EC" sz="2000" dirty="0"/>
        </a:p>
      </dgm:t>
    </dgm:pt>
    <dgm:pt modelId="{200FDFB0-E060-4BA9-94B3-84C95E86C97B}" type="parTrans" cxnId="{0ABFDFE0-1037-4199-AC1D-B086679D50AC}">
      <dgm:prSet/>
      <dgm:spPr/>
      <dgm:t>
        <a:bodyPr/>
        <a:lstStyle/>
        <a:p>
          <a:endParaRPr lang="es-EC" sz="1600"/>
        </a:p>
      </dgm:t>
    </dgm:pt>
    <dgm:pt modelId="{D914BE7A-0687-46D0-9D12-6D949BDD3F98}" type="sibTrans" cxnId="{0ABFDFE0-1037-4199-AC1D-B086679D50AC}">
      <dgm:prSet/>
      <dgm:spPr/>
      <dgm:t>
        <a:bodyPr/>
        <a:lstStyle/>
        <a:p>
          <a:endParaRPr lang="es-EC" sz="1600"/>
        </a:p>
      </dgm:t>
    </dgm:pt>
    <dgm:pt modelId="{A6AC0EE4-D2E1-49A3-8E2D-A81AEC724774}">
      <dgm:prSet phldrT="[Text]" custT="1"/>
      <dgm:spPr/>
      <dgm:t>
        <a:bodyPr/>
        <a:lstStyle/>
        <a:p>
          <a:r>
            <a:rPr lang="en-GB" sz="2000"/>
            <a:t>filter</a:t>
          </a:r>
          <a:endParaRPr lang="es-EC" sz="2000" dirty="0"/>
        </a:p>
      </dgm:t>
    </dgm:pt>
    <dgm:pt modelId="{B01F6A49-5D47-484F-B35F-5828AC05058C}" type="parTrans" cxnId="{F1EBF7A7-F766-44AF-8412-FB37B53D19EC}">
      <dgm:prSet/>
      <dgm:spPr/>
      <dgm:t>
        <a:bodyPr/>
        <a:lstStyle/>
        <a:p>
          <a:endParaRPr lang="es-EC" sz="1600"/>
        </a:p>
      </dgm:t>
    </dgm:pt>
    <dgm:pt modelId="{137E5F42-EE75-47F0-B764-D80A8B5AD256}" type="sibTrans" cxnId="{F1EBF7A7-F766-44AF-8412-FB37B53D19EC}">
      <dgm:prSet/>
      <dgm:spPr/>
      <dgm:t>
        <a:bodyPr/>
        <a:lstStyle/>
        <a:p>
          <a:endParaRPr lang="es-EC" sz="1600"/>
        </a:p>
      </dgm:t>
    </dgm:pt>
    <dgm:pt modelId="{B59343BA-EB46-4676-9DF5-DD1E60258A1F}">
      <dgm:prSet phldrT="[Text]" custT="1"/>
      <dgm:spPr/>
      <dgm:t>
        <a:bodyPr/>
        <a:lstStyle/>
        <a:p>
          <a:r>
            <a:rPr lang="en-GB" sz="1600"/>
            <a:t>Filtra observaciones con una o varias características</a:t>
          </a:r>
          <a:endParaRPr lang="es-EC" sz="1600" dirty="0"/>
        </a:p>
      </dgm:t>
    </dgm:pt>
    <dgm:pt modelId="{89FE71F2-C0B7-4320-B761-346FC46A65DB}" type="parTrans" cxnId="{7535EBD2-D11D-4B78-B844-FFB59C68C514}">
      <dgm:prSet/>
      <dgm:spPr/>
      <dgm:t>
        <a:bodyPr/>
        <a:lstStyle/>
        <a:p>
          <a:endParaRPr lang="es-EC" sz="1600"/>
        </a:p>
      </dgm:t>
    </dgm:pt>
    <dgm:pt modelId="{EAEF6477-AA49-4B11-A721-794C52535163}" type="sibTrans" cxnId="{7535EBD2-D11D-4B78-B844-FFB59C68C514}">
      <dgm:prSet/>
      <dgm:spPr/>
      <dgm:t>
        <a:bodyPr/>
        <a:lstStyle/>
        <a:p>
          <a:endParaRPr lang="es-EC" sz="1600"/>
        </a:p>
      </dgm:t>
    </dgm:pt>
    <dgm:pt modelId="{5BC80D73-645C-40EF-80CA-0C76D60C6ED7}">
      <dgm:prSet phldrT="[Text]" custT="1"/>
      <dgm:spPr/>
      <dgm:t>
        <a:bodyPr/>
        <a:lstStyle/>
        <a:p>
          <a:r>
            <a:rPr lang="en-GB" sz="2000"/>
            <a:t>select</a:t>
          </a:r>
          <a:endParaRPr lang="es-EC" sz="2000" dirty="0"/>
        </a:p>
      </dgm:t>
    </dgm:pt>
    <dgm:pt modelId="{3B2F7CDC-041E-4A18-9FF5-1DE940F70F33}" type="parTrans" cxnId="{DB44BE11-8214-46E2-8A81-45F42E13C062}">
      <dgm:prSet/>
      <dgm:spPr/>
      <dgm:t>
        <a:bodyPr/>
        <a:lstStyle/>
        <a:p>
          <a:endParaRPr lang="es-EC" sz="1600"/>
        </a:p>
      </dgm:t>
    </dgm:pt>
    <dgm:pt modelId="{CEABE671-E886-44F3-BE3A-D36869E4CBE2}" type="sibTrans" cxnId="{DB44BE11-8214-46E2-8A81-45F42E13C062}">
      <dgm:prSet/>
      <dgm:spPr/>
      <dgm:t>
        <a:bodyPr/>
        <a:lstStyle/>
        <a:p>
          <a:endParaRPr lang="es-EC" sz="1600"/>
        </a:p>
      </dgm:t>
    </dgm:pt>
    <dgm:pt modelId="{812DB4B2-0357-4446-AE5B-CA985B4B3FC9}">
      <dgm:prSet phldrT="[Text]" custT="1"/>
      <dgm:spPr/>
      <dgm:t>
        <a:bodyPr/>
        <a:lstStyle/>
        <a:p>
          <a:r>
            <a:rPr lang="en-GB" sz="1600"/>
            <a:t>Selecciona columnas</a:t>
          </a:r>
          <a:endParaRPr lang="es-EC" sz="1600" dirty="0"/>
        </a:p>
      </dgm:t>
    </dgm:pt>
    <dgm:pt modelId="{F4740E25-878F-4B5E-A319-A086FBC7F15D}" type="parTrans" cxnId="{2D24A98D-BAE3-4267-A574-73A286E2ADD3}">
      <dgm:prSet/>
      <dgm:spPr/>
      <dgm:t>
        <a:bodyPr/>
        <a:lstStyle/>
        <a:p>
          <a:endParaRPr lang="es-EC" sz="1600"/>
        </a:p>
      </dgm:t>
    </dgm:pt>
    <dgm:pt modelId="{FF81E891-E6F8-4719-80F6-DFEBDDE741A4}" type="sibTrans" cxnId="{2D24A98D-BAE3-4267-A574-73A286E2ADD3}">
      <dgm:prSet/>
      <dgm:spPr/>
      <dgm:t>
        <a:bodyPr/>
        <a:lstStyle/>
        <a:p>
          <a:endParaRPr lang="es-EC" sz="1600"/>
        </a:p>
      </dgm:t>
    </dgm:pt>
    <dgm:pt modelId="{508BDFC7-AA7A-4041-BFEB-74C49F8C6A1F}">
      <dgm:prSet phldrT="[Text]" custT="1"/>
      <dgm:spPr/>
      <dgm:t>
        <a:bodyPr/>
        <a:lstStyle/>
        <a:p>
          <a:r>
            <a:rPr lang="en-GB" sz="1600"/>
            <a:t>Une data frames usando información compartida en una columna</a:t>
          </a:r>
          <a:endParaRPr lang="es-EC" sz="1600" dirty="0"/>
        </a:p>
      </dgm:t>
    </dgm:pt>
    <dgm:pt modelId="{E4F38E77-A498-4B01-9411-440C8FCE416F}" type="parTrans" cxnId="{48F8C70E-B008-4B20-B3E8-6F983ABA1C09}">
      <dgm:prSet/>
      <dgm:spPr/>
      <dgm:t>
        <a:bodyPr/>
        <a:lstStyle/>
        <a:p>
          <a:endParaRPr lang="es-EC" sz="1600"/>
        </a:p>
      </dgm:t>
    </dgm:pt>
    <dgm:pt modelId="{42FE934C-17B3-43D7-B608-2EE65B56925E}" type="sibTrans" cxnId="{48F8C70E-B008-4B20-B3E8-6F983ABA1C09}">
      <dgm:prSet/>
      <dgm:spPr/>
      <dgm:t>
        <a:bodyPr/>
        <a:lstStyle/>
        <a:p>
          <a:endParaRPr lang="es-EC" sz="1600"/>
        </a:p>
      </dgm:t>
    </dgm:pt>
    <dgm:pt modelId="{830E5441-AAE0-487D-826F-27525D70EAC6}" type="pres">
      <dgm:prSet presAssocID="{3BC6707D-2587-4D8C-92F4-930950DABC09}" presName="Name0" presStyleCnt="0">
        <dgm:presLayoutVars>
          <dgm:dir/>
          <dgm:animLvl val="lvl"/>
          <dgm:resizeHandles val="exact"/>
        </dgm:presLayoutVars>
      </dgm:prSet>
      <dgm:spPr/>
    </dgm:pt>
    <dgm:pt modelId="{51A85730-B2A7-478C-BA68-EA04591D6C23}" type="pres">
      <dgm:prSet presAssocID="{ADE59139-92E5-4206-BF77-4781FB1222AB}" presName="linNode" presStyleCnt="0"/>
      <dgm:spPr/>
    </dgm:pt>
    <dgm:pt modelId="{ECAD217E-480D-4CA7-B515-DB292080E418}" type="pres">
      <dgm:prSet presAssocID="{ADE59139-92E5-4206-BF77-4781FB1222A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4DF16ED-97A5-442D-B921-3A06A2B9617C}" type="pres">
      <dgm:prSet presAssocID="{ADE59139-92E5-4206-BF77-4781FB1222AB}" presName="descendantText" presStyleLbl="alignAccFollowNode1" presStyleIdx="0" presStyleCnt="4">
        <dgm:presLayoutVars>
          <dgm:bulletEnabled val="1"/>
        </dgm:presLayoutVars>
      </dgm:prSet>
      <dgm:spPr/>
    </dgm:pt>
    <dgm:pt modelId="{3AA0C8BD-9206-4D87-9F1B-913ADD918D6E}" type="pres">
      <dgm:prSet presAssocID="{40B49636-7DD4-48A0-A709-3A000570A652}" presName="sp" presStyleCnt="0"/>
      <dgm:spPr/>
    </dgm:pt>
    <dgm:pt modelId="{D093730B-CFF3-4B5C-8962-A0AFA129F229}" type="pres">
      <dgm:prSet presAssocID="{F9B7D749-6E49-4953-966E-93A86ABABDFA}" presName="linNode" presStyleCnt="0"/>
      <dgm:spPr/>
    </dgm:pt>
    <dgm:pt modelId="{994C0ACF-C605-4FB8-8A30-7942EE76E560}" type="pres">
      <dgm:prSet presAssocID="{F9B7D749-6E49-4953-966E-93A86ABABDF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0E1C4AD-653A-492F-AC5F-34F4F6401E45}" type="pres">
      <dgm:prSet presAssocID="{F9B7D749-6E49-4953-966E-93A86ABABDFA}" presName="descendantText" presStyleLbl="alignAccFollowNode1" presStyleIdx="1" presStyleCnt="4">
        <dgm:presLayoutVars>
          <dgm:bulletEnabled val="1"/>
        </dgm:presLayoutVars>
      </dgm:prSet>
      <dgm:spPr/>
    </dgm:pt>
    <dgm:pt modelId="{C766215C-6D62-40EE-9C05-AE0A86157A46}" type="pres">
      <dgm:prSet presAssocID="{D914BE7A-0687-46D0-9D12-6D949BDD3F98}" presName="sp" presStyleCnt="0"/>
      <dgm:spPr/>
    </dgm:pt>
    <dgm:pt modelId="{3DC570F5-21D2-4385-9973-F0506ADB471E}" type="pres">
      <dgm:prSet presAssocID="{A6AC0EE4-D2E1-49A3-8E2D-A81AEC724774}" presName="linNode" presStyleCnt="0"/>
      <dgm:spPr/>
    </dgm:pt>
    <dgm:pt modelId="{BD637A3F-D7D6-4411-BCBA-EDD85E1D8C5F}" type="pres">
      <dgm:prSet presAssocID="{A6AC0EE4-D2E1-49A3-8E2D-A81AEC72477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86164B3-A979-4303-8449-C05A9DD8DC17}" type="pres">
      <dgm:prSet presAssocID="{A6AC0EE4-D2E1-49A3-8E2D-A81AEC724774}" presName="descendantText" presStyleLbl="alignAccFollowNode1" presStyleIdx="2" presStyleCnt="4">
        <dgm:presLayoutVars>
          <dgm:bulletEnabled val="1"/>
        </dgm:presLayoutVars>
      </dgm:prSet>
      <dgm:spPr/>
    </dgm:pt>
    <dgm:pt modelId="{B97CDB8E-E48B-400D-8FFE-7CA16BEA3F78}" type="pres">
      <dgm:prSet presAssocID="{137E5F42-EE75-47F0-B764-D80A8B5AD256}" presName="sp" presStyleCnt="0"/>
      <dgm:spPr/>
    </dgm:pt>
    <dgm:pt modelId="{DF53ABE9-F666-49F1-94E2-B9677C94D2D5}" type="pres">
      <dgm:prSet presAssocID="{5BC80D73-645C-40EF-80CA-0C76D60C6ED7}" presName="linNode" presStyleCnt="0"/>
      <dgm:spPr/>
    </dgm:pt>
    <dgm:pt modelId="{7EAED755-CC74-4519-BDFC-906F6E43BF94}" type="pres">
      <dgm:prSet presAssocID="{5BC80D73-645C-40EF-80CA-0C76D60C6ED7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F2343E30-4CF3-4FF7-983E-34084406714B}" type="pres">
      <dgm:prSet presAssocID="{5BC80D73-645C-40EF-80CA-0C76D60C6ED7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48F8C70E-B008-4B20-B3E8-6F983ABA1C09}" srcId="{F9B7D749-6E49-4953-966E-93A86ABABDFA}" destId="{508BDFC7-AA7A-4041-BFEB-74C49F8C6A1F}" srcOrd="0" destOrd="0" parTransId="{E4F38E77-A498-4B01-9411-440C8FCE416F}" sibTransId="{42FE934C-17B3-43D7-B608-2EE65B56925E}"/>
    <dgm:cxn modelId="{DB44BE11-8214-46E2-8A81-45F42E13C062}" srcId="{3BC6707D-2587-4D8C-92F4-930950DABC09}" destId="{5BC80D73-645C-40EF-80CA-0C76D60C6ED7}" srcOrd="3" destOrd="0" parTransId="{3B2F7CDC-041E-4A18-9FF5-1DE940F70F33}" sibTransId="{CEABE671-E886-44F3-BE3A-D36869E4CBE2}"/>
    <dgm:cxn modelId="{62FEE128-6DDF-42E0-B7F2-3516E30E9413}" type="presOf" srcId="{ADE59139-92E5-4206-BF77-4781FB1222AB}" destId="{ECAD217E-480D-4CA7-B515-DB292080E418}" srcOrd="0" destOrd="0" presId="urn:microsoft.com/office/officeart/2005/8/layout/vList5"/>
    <dgm:cxn modelId="{46A5F829-104F-4E65-B254-98C1D4B9A995}" type="presOf" srcId="{508BDFC7-AA7A-4041-BFEB-74C49F8C6A1F}" destId="{B0E1C4AD-653A-492F-AC5F-34F4F6401E45}" srcOrd="0" destOrd="0" presId="urn:microsoft.com/office/officeart/2005/8/layout/vList5"/>
    <dgm:cxn modelId="{B52B4F41-7CED-4773-8DB1-705D5D5127DD}" type="presOf" srcId="{3BC6707D-2587-4D8C-92F4-930950DABC09}" destId="{830E5441-AAE0-487D-826F-27525D70EAC6}" srcOrd="0" destOrd="0" presId="urn:microsoft.com/office/officeart/2005/8/layout/vList5"/>
    <dgm:cxn modelId="{5DBFB966-404C-40BF-BBC9-2DF5DDD587DA}" srcId="{ADE59139-92E5-4206-BF77-4781FB1222AB}" destId="{551ACBCD-59F8-4ED8-88C5-04DC7DF460A9}" srcOrd="0" destOrd="0" parTransId="{4482D1ED-4591-4AC3-8DE9-112F075E4770}" sibTransId="{9BDE4B73-A3F4-4F00-9EBB-0F379D9CA03F}"/>
    <dgm:cxn modelId="{2572B872-659B-43B8-A485-EC788EE620DB}" srcId="{3BC6707D-2587-4D8C-92F4-930950DABC09}" destId="{ADE59139-92E5-4206-BF77-4781FB1222AB}" srcOrd="0" destOrd="0" parTransId="{9D913CC2-D058-4F0E-8B14-B90CC3D1705C}" sibTransId="{40B49636-7DD4-48A0-A709-3A000570A652}"/>
    <dgm:cxn modelId="{A7A19753-ADB7-4E54-BC08-02F992C9DBF3}" type="presOf" srcId="{5BC80D73-645C-40EF-80CA-0C76D60C6ED7}" destId="{7EAED755-CC74-4519-BDFC-906F6E43BF94}" srcOrd="0" destOrd="0" presId="urn:microsoft.com/office/officeart/2005/8/layout/vList5"/>
    <dgm:cxn modelId="{A2F6B67E-A49A-416F-A684-03773E06DAD3}" type="presOf" srcId="{F9B7D749-6E49-4953-966E-93A86ABABDFA}" destId="{994C0ACF-C605-4FB8-8A30-7942EE76E560}" srcOrd="0" destOrd="0" presId="urn:microsoft.com/office/officeart/2005/8/layout/vList5"/>
    <dgm:cxn modelId="{2D24A98D-BAE3-4267-A574-73A286E2ADD3}" srcId="{5BC80D73-645C-40EF-80CA-0C76D60C6ED7}" destId="{812DB4B2-0357-4446-AE5B-CA985B4B3FC9}" srcOrd="0" destOrd="0" parTransId="{F4740E25-878F-4B5E-A319-A086FBC7F15D}" sibTransId="{FF81E891-E6F8-4719-80F6-DFEBDDE741A4}"/>
    <dgm:cxn modelId="{152ED298-BFE3-4020-93AD-90AA03A228FA}" type="presOf" srcId="{A6AC0EE4-D2E1-49A3-8E2D-A81AEC724774}" destId="{BD637A3F-D7D6-4411-BCBA-EDD85E1D8C5F}" srcOrd="0" destOrd="0" presId="urn:microsoft.com/office/officeart/2005/8/layout/vList5"/>
    <dgm:cxn modelId="{F1EBF7A7-F766-44AF-8412-FB37B53D19EC}" srcId="{3BC6707D-2587-4D8C-92F4-930950DABC09}" destId="{A6AC0EE4-D2E1-49A3-8E2D-A81AEC724774}" srcOrd="2" destOrd="0" parTransId="{B01F6A49-5D47-484F-B35F-5828AC05058C}" sibTransId="{137E5F42-EE75-47F0-B764-D80A8B5AD256}"/>
    <dgm:cxn modelId="{3850C9BB-79BB-475E-A894-43A93A287368}" type="presOf" srcId="{812DB4B2-0357-4446-AE5B-CA985B4B3FC9}" destId="{F2343E30-4CF3-4FF7-983E-34084406714B}" srcOrd="0" destOrd="0" presId="urn:microsoft.com/office/officeart/2005/8/layout/vList5"/>
    <dgm:cxn modelId="{7535EBD2-D11D-4B78-B844-FFB59C68C514}" srcId="{A6AC0EE4-D2E1-49A3-8E2D-A81AEC724774}" destId="{B59343BA-EB46-4676-9DF5-DD1E60258A1F}" srcOrd="0" destOrd="0" parTransId="{89FE71F2-C0B7-4320-B761-346FC46A65DB}" sibTransId="{EAEF6477-AA49-4B11-A721-794C52535163}"/>
    <dgm:cxn modelId="{AA380AD3-E6E4-4F54-8E08-88BA701F0C9C}" type="presOf" srcId="{B59343BA-EB46-4676-9DF5-DD1E60258A1F}" destId="{B86164B3-A979-4303-8449-C05A9DD8DC17}" srcOrd="0" destOrd="0" presId="urn:microsoft.com/office/officeart/2005/8/layout/vList5"/>
    <dgm:cxn modelId="{0ABFDFE0-1037-4199-AC1D-B086679D50AC}" srcId="{3BC6707D-2587-4D8C-92F4-930950DABC09}" destId="{F9B7D749-6E49-4953-966E-93A86ABABDFA}" srcOrd="1" destOrd="0" parTransId="{200FDFB0-E060-4BA9-94B3-84C95E86C97B}" sibTransId="{D914BE7A-0687-46D0-9D12-6D949BDD3F98}"/>
    <dgm:cxn modelId="{457BDAF0-3C30-4515-B078-B7232A3CE68B}" type="presOf" srcId="{551ACBCD-59F8-4ED8-88C5-04DC7DF460A9}" destId="{14DF16ED-97A5-442D-B921-3A06A2B9617C}" srcOrd="0" destOrd="0" presId="urn:microsoft.com/office/officeart/2005/8/layout/vList5"/>
    <dgm:cxn modelId="{2E1E7EB5-AD4D-4A83-926E-0109C3523769}" type="presParOf" srcId="{830E5441-AAE0-487D-826F-27525D70EAC6}" destId="{51A85730-B2A7-478C-BA68-EA04591D6C23}" srcOrd="0" destOrd="0" presId="urn:microsoft.com/office/officeart/2005/8/layout/vList5"/>
    <dgm:cxn modelId="{38657338-D72B-4863-B7A3-53D42B3CC538}" type="presParOf" srcId="{51A85730-B2A7-478C-BA68-EA04591D6C23}" destId="{ECAD217E-480D-4CA7-B515-DB292080E418}" srcOrd="0" destOrd="0" presId="urn:microsoft.com/office/officeart/2005/8/layout/vList5"/>
    <dgm:cxn modelId="{3CB15075-C121-438A-8F1E-335137A1332B}" type="presParOf" srcId="{51A85730-B2A7-478C-BA68-EA04591D6C23}" destId="{14DF16ED-97A5-442D-B921-3A06A2B9617C}" srcOrd="1" destOrd="0" presId="urn:microsoft.com/office/officeart/2005/8/layout/vList5"/>
    <dgm:cxn modelId="{A91BE62C-F372-4F97-8756-31670092E67B}" type="presParOf" srcId="{830E5441-AAE0-487D-826F-27525D70EAC6}" destId="{3AA0C8BD-9206-4D87-9F1B-913ADD918D6E}" srcOrd="1" destOrd="0" presId="urn:microsoft.com/office/officeart/2005/8/layout/vList5"/>
    <dgm:cxn modelId="{CCF866C5-18C7-4850-A7E7-434D2805DF36}" type="presParOf" srcId="{830E5441-AAE0-487D-826F-27525D70EAC6}" destId="{D093730B-CFF3-4B5C-8962-A0AFA129F229}" srcOrd="2" destOrd="0" presId="urn:microsoft.com/office/officeart/2005/8/layout/vList5"/>
    <dgm:cxn modelId="{9A5075CD-C6D4-4DF9-AF58-A108C3443037}" type="presParOf" srcId="{D093730B-CFF3-4B5C-8962-A0AFA129F229}" destId="{994C0ACF-C605-4FB8-8A30-7942EE76E560}" srcOrd="0" destOrd="0" presId="urn:microsoft.com/office/officeart/2005/8/layout/vList5"/>
    <dgm:cxn modelId="{2A6516EC-C83C-476D-8894-21D9D6D3C58E}" type="presParOf" srcId="{D093730B-CFF3-4B5C-8962-A0AFA129F229}" destId="{B0E1C4AD-653A-492F-AC5F-34F4F6401E45}" srcOrd="1" destOrd="0" presId="urn:microsoft.com/office/officeart/2005/8/layout/vList5"/>
    <dgm:cxn modelId="{B8351931-E9BA-4F40-B15F-D8E3F1916A47}" type="presParOf" srcId="{830E5441-AAE0-487D-826F-27525D70EAC6}" destId="{C766215C-6D62-40EE-9C05-AE0A86157A46}" srcOrd="3" destOrd="0" presId="urn:microsoft.com/office/officeart/2005/8/layout/vList5"/>
    <dgm:cxn modelId="{65F307B4-583C-4A92-909D-A26580E8261A}" type="presParOf" srcId="{830E5441-AAE0-487D-826F-27525D70EAC6}" destId="{3DC570F5-21D2-4385-9973-F0506ADB471E}" srcOrd="4" destOrd="0" presId="urn:microsoft.com/office/officeart/2005/8/layout/vList5"/>
    <dgm:cxn modelId="{5C1DDEAB-CA6B-471D-BA78-7CEC8DBD63E9}" type="presParOf" srcId="{3DC570F5-21D2-4385-9973-F0506ADB471E}" destId="{BD637A3F-D7D6-4411-BCBA-EDD85E1D8C5F}" srcOrd="0" destOrd="0" presId="urn:microsoft.com/office/officeart/2005/8/layout/vList5"/>
    <dgm:cxn modelId="{A528ED4F-1EDA-414C-BBF6-B3045B36A166}" type="presParOf" srcId="{3DC570F5-21D2-4385-9973-F0506ADB471E}" destId="{B86164B3-A979-4303-8449-C05A9DD8DC17}" srcOrd="1" destOrd="0" presId="urn:microsoft.com/office/officeart/2005/8/layout/vList5"/>
    <dgm:cxn modelId="{77EC9826-16E2-45F8-A0A1-2B55AB13D816}" type="presParOf" srcId="{830E5441-AAE0-487D-826F-27525D70EAC6}" destId="{B97CDB8E-E48B-400D-8FFE-7CA16BEA3F78}" srcOrd="5" destOrd="0" presId="urn:microsoft.com/office/officeart/2005/8/layout/vList5"/>
    <dgm:cxn modelId="{9D383D22-8D94-4627-A4B5-A7F0930B12E0}" type="presParOf" srcId="{830E5441-AAE0-487D-826F-27525D70EAC6}" destId="{DF53ABE9-F666-49F1-94E2-B9677C94D2D5}" srcOrd="6" destOrd="0" presId="urn:microsoft.com/office/officeart/2005/8/layout/vList5"/>
    <dgm:cxn modelId="{33FBBE0A-85A1-4A24-84E4-A385C6753545}" type="presParOf" srcId="{DF53ABE9-F666-49F1-94E2-B9677C94D2D5}" destId="{7EAED755-CC74-4519-BDFC-906F6E43BF94}" srcOrd="0" destOrd="0" presId="urn:microsoft.com/office/officeart/2005/8/layout/vList5"/>
    <dgm:cxn modelId="{EE02FFAA-5F30-4D92-8121-49985EB385E7}" type="presParOf" srcId="{DF53ABE9-F666-49F1-94E2-B9677C94D2D5}" destId="{F2343E30-4CF3-4FF7-983E-34084406714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94F31-9FD4-4556-AAE2-E1FA0DA42EFE}">
      <dsp:nvSpPr>
        <dsp:cNvPr id="0" name=""/>
        <dsp:cNvSpPr/>
      </dsp:nvSpPr>
      <dsp:spPr>
        <a:xfrm>
          <a:off x="2181345" y="345"/>
          <a:ext cx="3272018" cy="134554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Continuas</a:t>
          </a:r>
          <a:r>
            <a:rPr lang="en-GB" sz="2200" kern="1200" dirty="0"/>
            <a:t>: </a:t>
          </a:r>
          <a:r>
            <a:rPr lang="en-GB" sz="2200" kern="1200" dirty="0" err="1"/>
            <a:t>num</a:t>
          </a:r>
          <a:r>
            <a:rPr lang="en-GB" sz="2200" kern="1200" dirty="0"/>
            <a:t> (</a:t>
          </a:r>
          <a:r>
            <a:rPr lang="en-GB" sz="2200" kern="1200" dirty="0" err="1"/>
            <a:t>fechas</a:t>
          </a:r>
          <a:r>
            <a:rPr lang="en-GB" sz="2200" kern="1200" dirty="0"/>
            <a:t>: Date, POSIX)</a:t>
          </a:r>
          <a:endParaRPr lang="es-EC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Discretas</a:t>
          </a:r>
          <a:r>
            <a:rPr lang="en-GB" sz="2200" kern="1200" dirty="0"/>
            <a:t>: </a:t>
          </a:r>
          <a:r>
            <a:rPr lang="en-GB" sz="2200" kern="1200" dirty="0" err="1"/>
            <a:t>num</a:t>
          </a:r>
          <a:r>
            <a:rPr lang="en-GB" sz="2200" kern="1200" dirty="0"/>
            <a:t>, int</a:t>
          </a:r>
          <a:endParaRPr lang="es-EC" sz="2200" kern="1200" dirty="0"/>
        </a:p>
      </dsp:txBody>
      <dsp:txXfrm>
        <a:off x="2181345" y="168538"/>
        <a:ext cx="2767440" cy="1009155"/>
      </dsp:txXfrm>
    </dsp:sp>
    <dsp:sp modelId="{061CECE5-3B35-4A62-AAF7-5651A09D0DAC}">
      <dsp:nvSpPr>
        <dsp:cNvPr id="0" name=""/>
        <dsp:cNvSpPr/>
      </dsp:nvSpPr>
      <dsp:spPr>
        <a:xfrm>
          <a:off x="0" y="345"/>
          <a:ext cx="2181345" cy="13455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Variables </a:t>
          </a:r>
          <a:r>
            <a:rPr lang="en-GB" sz="2900" kern="1200" dirty="0" err="1"/>
            <a:t>Numéricas</a:t>
          </a:r>
          <a:endParaRPr lang="es-EC" sz="2900" kern="1200" dirty="0"/>
        </a:p>
      </dsp:txBody>
      <dsp:txXfrm>
        <a:off x="65684" y="66029"/>
        <a:ext cx="2049977" cy="1214173"/>
      </dsp:txXfrm>
    </dsp:sp>
    <dsp:sp modelId="{E8FA77FD-6A5C-413A-9500-9F62A4AA8DF0}">
      <dsp:nvSpPr>
        <dsp:cNvPr id="0" name=""/>
        <dsp:cNvSpPr/>
      </dsp:nvSpPr>
      <dsp:spPr>
        <a:xfrm>
          <a:off x="2181345" y="1480440"/>
          <a:ext cx="3272018" cy="1345541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Nominales</a:t>
          </a:r>
          <a:r>
            <a:rPr lang="en-GB" sz="2200" kern="1200" dirty="0"/>
            <a:t>: chr, factor</a:t>
          </a:r>
          <a:endParaRPr lang="es-EC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Ordinales</a:t>
          </a:r>
          <a:r>
            <a:rPr lang="en-GB" sz="2200" kern="1200" dirty="0"/>
            <a:t>: chr, factor</a:t>
          </a:r>
          <a:endParaRPr lang="es-EC" sz="2200" kern="1200" dirty="0"/>
        </a:p>
      </dsp:txBody>
      <dsp:txXfrm>
        <a:off x="2181345" y="1648633"/>
        <a:ext cx="2767440" cy="1009155"/>
      </dsp:txXfrm>
    </dsp:sp>
    <dsp:sp modelId="{100D59CB-FB9A-4782-87CF-8652409704AB}">
      <dsp:nvSpPr>
        <dsp:cNvPr id="0" name=""/>
        <dsp:cNvSpPr/>
      </dsp:nvSpPr>
      <dsp:spPr>
        <a:xfrm>
          <a:off x="0" y="1480440"/>
          <a:ext cx="2181345" cy="13455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Variables </a:t>
          </a:r>
          <a:r>
            <a:rPr lang="en-GB" sz="2900" kern="1200" dirty="0" err="1"/>
            <a:t>Categóricas</a:t>
          </a:r>
          <a:endParaRPr lang="es-EC" sz="2900" kern="1200" dirty="0"/>
        </a:p>
      </dsp:txBody>
      <dsp:txXfrm>
        <a:off x="65684" y="1546124"/>
        <a:ext cx="2049977" cy="12141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DF16ED-97A5-442D-B921-3A06A2B9617C}">
      <dsp:nvSpPr>
        <dsp:cNvPr id="0" name=""/>
        <dsp:cNvSpPr/>
      </dsp:nvSpPr>
      <dsp:spPr>
        <a:xfrm rot="5400000">
          <a:off x="2748570" y="-990118"/>
          <a:ext cx="773191" cy="29507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 err="1"/>
            <a:t>Proceso</a:t>
          </a:r>
          <a:r>
            <a:rPr lang="en-GB" sz="1600" kern="1200" dirty="0"/>
            <a:t> </a:t>
          </a:r>
          <a:r>
            <a:rPr lang="en-GB" sz="1600" kern="1200" dirty="0" err="1"/>
            <a:t>cambios</a:t>
          </a:r>
          <a:r>
            <a:rPr lang="en-GB" sz="1600" kern="1200" dirty="0"/>
            <a:t> </a:t>
          </a:r>
          <a:r>
            <a:rPr lang="en-GB" sz="1600" kern="1200" dirty="0" err="1"/>
            <a:t>en</a:t>
          </a:r>
          <a:r>
            <a:rPr lang="en-GB" sz="1600" kern="1200" dirty="0"/>
            <a:t> las </a:t>
          </a:r>
          <a:r>
            <a:rPr lang="en-GB" sz="1600" kern="1200" dirty="0" err="1"/>
            <a:t>columnas</a:t>
          </a:r>
          <a:r>
            <a:rPr lang="en-GB" sz="1600" kern="1200" dirty="0"/>
            <a:t> (</a:t>
          </a:r>
          <a:r>
            <a:rPr lang="en-GB" sz="1600" kern="1200" dirty="0" err="1"/>
            <a:t>crear</a:t>
          </a:r>
          <a:r>
            <a:rPr lang="en-GB" sz="1600" kern="1200" dirty="0"/>
            <a:t> </a:t>
          </a:r>
          <a:r>
            <a:rPr lang="en-GB" sz="1600" kern="1200" dirty="0" err="1"/>
            <a:t>nuevas</a:t>
          </a:r>
          <a:r>
            <a:rPr lang="en-GB" sz="1600" kern="1200" dirty="0"/>
            <a:t> </a:t>
          </a:r>
          <a:r>
            <a:rPr lang="en-GB" sz="1600" kern="1200" dirty="0" err="1"/>
            <a:t>columnas</a:t>
          </a:r>
          <a:r>
            <a:rPr lang="en-GB" sz="1600" kern="1200" dirty="0"/>
            <a:t> o </a:t>
          </a:r>
          <a:r>
            <a:rPr lang="en-GB" sz="1600" kern="1200" dirty="0" err="1"/>
            <a:t>reemplazarlas</a:t>
          </a:r>
          <a:r>
            <a:rPr lang="en-GB" sz="1600" kern="1200" dirty="0"/>
            <a:t>)</a:t>
          </a:r>
          <a:endParaRPr lang="es-EC" sz="1600" kern="1200" dirty="0"/>
        </a:p>
      </dsp:txBody>
      <dsp:txXfrm rot="-5400000">
        <a:off x="1659794" y="136402"/>
        <a:ext cx="2913000" cy="697703"/>
      </dsp:txXfrm>
    </dsp:sp>
    <dsp:sp modelId="{ECAD217E-480D-4CA7-B515-DB292080E418}">
      <dsp:nvSpPr>
        <dsp:cNvPr id="0" name=""/>
        <dsp:cNvSpPr/>
      </dsp:nvSpPr>
      <dsp:spPr>
        <a:xfrm>
          <a:off x="0" y="2009"/>
          <a:ext cx="1659793" cy="9664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mutate</a:t>
          </a:r>
          <a:endParaRPr lang="es-EC" sz="2000" kern="1200" dirty="0"/>
        </a:p>
      </dsp:txBody>
      <dsp:txXfrm>
        <a:off x="47180" y="49189"/>
        <a:ext cx="1565433" cy="872129"/>
      </dsp:txXfrm>
    </dsp:sp>
    <dsp:sp modelId="{B0E1C4AD-653A-492F-AC5F-34F4F6401E45}">
      <dsp:nvSpPr>
        <dsp:cNvPr id="0" name=""/>
        <dsp:cNvSpPr/>
      </dsp:nvSpPr>
      <dsp:spPr>
        <a:xfrm rot="5400000">
          <a:off x="2748570" y="24695"/>
          <a:ext cx="773191" cy="29507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Une data frames usando información compartida en una columna</a:t>
          </a:r>
          <a:endParaRPr lang="es-EC" sz="1600" kern="1200" dirty="0"/>
        </a:p>
      </dsp:txBody>
      <dsp:txXfrm rot="-5400000">
        <a:off x="1659794" y="1151215"/>
        <a:ext cx="2913000" cy="697703"/>
      </dsp:txXfrm>
    </dsp:sp>
    <dsp:sp modelId="{994C0ACF-C605-4FB8-8A30-7942EE76E560}">
      <dsp:nvSpPr>
        <dsp:cNvPr id="0" name=""/>
        <dsp:cNvSpPr/>
      </dsp:nvSpPr>
      <dsp:spPr>
        <a:xfrm>
          <a:off x="0" y="1016823"/>
          <a:ext cx="1659793" cy="9664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inner_join</a:t>
          </a:r>
          <a:endParaRPr lang="es-EC" sz="2000" kern="1200" dirty="0"/>
        </a:p>
      </dsp:txBody>
      <dsp:txXfrm>
        <a:off x="47180" y="1064003"/>
        <a:ext cx="1565433" cy="872129"/>
      </dsp:txXfrm>
    </dsp:sp>
    <dsp:sp modelId="{B86164B3-A979-4303-8449-C05A9DD8DC17}">
      <dsp:nvSpPr>
        <dsp:cNvPr id="0" name=""/>
        <dsp:cNvSpPr/>
      </dsp:nvSpPr>
      <dsp:spPr>
        <a:xfrm rot="5400000">
          <a:off x="2748570" y="1039509"/>
          <a:ext cx="773191" cy="29507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Filtra observaciones con una o varias características</a:t>
          </a:r>
          <a:endParaRPr lang="es-EC" sz="1600" kern="1200" dirty="0"/>
        </a:p>
      </dsp:txBody>
      <dsp:txXfrm rot="-5400000">
        <a:off x="1659794" y="2166029"/>
        <a:ext cx="2913000" cy="697703"/>
      </dsp:txXfrm>
    </dsp:sp>
    <dsp:sp modelId="{BD637A3F-D7D6-4411-BCBA-EDD85E1D8C5F}">
      <dsp:nvSpPr>
        <dsp:cNvPr id="0" name=""/>
        <dsp:cNvSpPr/>
      </dsp:nvSpPr>
      <dsp:spPr>
        <a:xfrm>
          <a:off x="0" y="2031636"/>
          <a:ext cx="1659793" cy="9664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filter</a:t>
          </a:r>
          <a:endParaRPr lang="es-EC" sz="2000" kern="1200" dirty="0"/>
        </a:p>
      </dsp:txBody>
      <dsp:txXfrm>
        <a:off x="47180" y="2078816"/>
        <a:ext cx="1565433" cy="872129"/>
      </dsp:txXfrm>
    </dsp:sp>
    <dsp:sp modelId="{F2343E30-4CF3-4FF7-983E-34084406714B}">
      <dsp:nvSpPr>
        <dsp:cNvPr id="0" name=""/>
        <dsp:cNvSpPr/>
      </dsp:nvSpPr>
      <dsp:spPr>
        <a:xfrm rot="5400000">
          <a:off x="2748570" y="2054322"/>
          <a:ext cx="773191" cy="29507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Selecciona columnas</a:t>
          </a:r>
          <a:endParaRPr lang="es-EC" sz="1600" kern="1200" dirty="0"/>
        </a:p>
      </dsp:txBody>
      <dsp:txXfrm rot="-5400000">
        <a:off x="1659794" y="3180842"/>
        <a:ext cx="2913000" cy="697703"/>
      </dsp:txXfrm>
    </dsp:sp>
    <dsp:sp modelId="{7EAED755-CC74-4519-BDFC-906F6E43BF94}">
      <dsp:nvSpPr>
        <dsp:cNvPr id="0" name=""/>
        <dsp:cNvSpPr/>
      </dsp:nvSpPr>
      <dsp:spPr>
        <a:xfrm>
          <a:off x="0" y="3046450"/>
          <a:ext cx="1659793" cy="9664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select</a:t>
          </a:r>
          <a:endParaRPr lang="es-EC" sz="2000" kern="1200" dirty="0"/>
        </a:p>
      </dsp:txBody>
      <dsp:txXfrm>
        <a:off x="47180" y="3093630"/>
        <a:ext cx="1565433" cy="8721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7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2384176-64D2-46B1-8395-2BBF30C715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EFC5AC-DBDF-4892-A2E5-266A451344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8EED0-6CDA-4684-9DC9-561A354FE45F}" type="datetimeFigureOut">
              <a:rPr lang="es-EC" smtClean="0"/>
              <a:t>2/7/2026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EA0780-D4EC-47EA-B2CB-D22729D7BE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B03065-65B6-4C5F-BAAB-3555362D21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14550-DC16-49CE-8972-AE6538614165}" type="slidenum">
              <a:rPr lang="es-EC" smtClean="0"/>
              <a:t>‹#›</a:t>
            </a:fld>
            <a:endParaRPr lang="es-EC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05233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2DC67-B644-4014-97E5-A35A9F66195C}" type="datetimeFigureOut">
              <a:rPr lang="es-EC" smtClean="0"/>
              <a:t>2/7/2026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B3FB-C8DC-46F7-9B71-F94E1A78CC9C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3535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6B3FB-C8DC-46F7-9B71-F94E1A78CC9C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4708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6B3FB-C8DC-46F7-9B71-F94E1A78CC9C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5551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6B3FB-C8DC-46F7-9B71-F94E1A78CC9C}" type="slidenum">
              <a:rPr lang="es-EC" smtClean="0"/>
              <a:t>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18687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6B3FB-C8DC-46F7-9B71-F94E1A78CC9C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8150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bre de la mate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2D49B0D6-5652-45C3-BD80-DE3414C654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7280" y="5253890"/>
            <a:ext cx="9919306" cy="590011"/>
          </a:xfrm>
        </p:spPr>
        <p:txBody>
          <a:bodyPr anchor="ctr"/>
          <a:lstStyle>
            <a:lvl1pPr marL="0" indent="0" algn="l">
              <a:buNone/>
              <a:defRPr sz="1600" b="1" baseline="0">
                <a:solidFill>
                  <a:srgbClr val="00538A"/>
                </a:solidFill>
                <a:latin typeface="+mn-lt"/>
              </a:defRPr>
            </a:lvl1pPr>
          </a:lstStyle>
          <a:p>
            <a:pPr lvl="0"/>
            <a:r>
              <a:rPr lang="es-MX" dirty="0"/>
              <a:t>DOCENTE AUTOR</a:t>
            </a:r>
            <a:endParaRPr lang="es-EC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C8ECE3C-5C59-4511-9103-361258AF1C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97280" y="1798715"/>
            <a:ext cx="10058400" cy="2093027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rgbClr val="01548B"/>
                </a:solidFill>
                <a:latin typeface="+mn-lt"/>
              </a:defRPr>
            </a:lvl1pPr>
          </a:lstStyle>
          <a:p>
            <a:pPr algn="ctr"/>
            <a:r>
              <a:rPr lang="es-ES_tradnl" dirty="0"/>
              <a:t>HAGA CLIC PARA AGREGAR NOMBRE DE LA MATERIA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4D57F886-3C13-4181-9681-846D52BE0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7280" y="4663879"/>
            <a:ext cx="9919306" cy="590011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MX" dirty="0"/>
              <a:t>HAGA CLIC PARA AGREGAR NOMBRE DEL AUTOR DEL CONTENIDO</a:t>
            </a:r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91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ombre de la Unid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2" y="1417133"/>
            <a:ext cx="10515600" cy="2852737"/>
          </a:xfrm>
        </p:spPr>
        <p:txBody>
          <a:bodyPr anchor="ctr" anchorCtr="0"/>
          <a:lstStyle>
            <a:lvl1pPr algn="ctr">
              <a:defRPr sz="4875">
                <a:solidFill>
                  <a:srgbClr val="01548B"/>
                </a:solidFill>
                <a:latin typeface="+mn-lt"/>
              </a:defRPr>
            </a:lvl1pPr>
          </a:lstStyle>
          <a:p>
            <a:r>
              <a:rPr lang="es-ES" dirty="0"/>
              <a:t>HAGA CLIC PARA AGREGAR EL NOMBRE DE LA UNIDAD</a:t>
            </a:r>
            <a:endParaRPr lang="es-ES_tradnl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2" y="4296857"/>
            <a:ext cx="10515600" cy="1500187"/>
          </a:xfrm>
        </p:spPr>
        <p:txBody>
          <a:bodyPr anchor="ctr" anchorCtr="0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371464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27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39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85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1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78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24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70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ESCRIBIR “UNIDAD ##”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519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BA76A4-7DB4-43AE-9B59-82990EEA5EA0}" type="datetimeFigureOut">
              <a:rPr lang="es-ES_tradnl"/>
              <a:pPr>
                <a:defRPr/>
              </a:pPr>
              <a:t>02/07/2026</a:t>
            </a:fld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1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EC842-459B-4A22-8B4B-9D5A2E36E472}" type="slidenum">
              <a:rPr lang="es-ES_tradnl"/>
              <a:pPr>
                <a:defRPr/>
              </a:pPr>
              <a:t>‹#›</a:t>
            </a:fld>
            <a:endParaRPr lang="es-ES_tradnl"/>
          </a:p>
        </p:txBody>
      </p:sp>
      <p:sp>
        <p:nvSpPr>
          <p:cNvPr id="6" name="Marcador de pie de página 6"/>
          <p:cNvSpPr>
            <a:spLocks noGrp="1"/>
          </p:cNvSpPr>
          <p:nvPr>
            <p:ph type="ftr" sz="quarter" idx="12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pic>
        <p:nvPicPr>
          <p:cNvPr id="8" name="Marcador de contenido 11">
            <a:extLst>
              <a:ext uri="{FF2B5EF4-FFF2-40B4-BE49-F238E27FC236}">
                <a16:creationId xmlns:a16="http://schemas.microsoft.com/office/drawing/2014/main" id="{1BCC7812-ADB4-4358-A72D-007C57EC84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610" y="209010"/>
            <a:ext cx="2637325" cy="53640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B42F90-60B7-4616-B8EB-408683FFA3CF}"/>
              </a:ext>
            </a:extLst>
          </p:cNvPr>
          <p:cNvSpPr/>
          <p:nvPr userDrawn="1"/>
        </p:nvSpPr>
        <p:spPr>
          <a:xfrm rot="19325781">
            <a:off x="7760518" y="3465218"/>
            <a:ext cx="4240989" cy="1496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909758-0921-453A-BC99-279902CAA10A}"/>
              </a:ext>
            </a:extLst>
          </p:cNvPr>
          <p:cNvSpPr/>
          <p:nvPr userDrawn="1"/>
        </p:nvSpPr>
        <p:spPr>
          <a:xfrm rot="19325781">
            <a:off x="9645589" y="4273424"/>
            <a:ext cx="1808710" cy="1496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488123"/>
            <a:ext cx="9144000" cy="2387600"/>
          </a:xfrm>
        </p:spPr>
        <p:txBody>
          <a:bodyPr anchor="ctr"/>
          <a:lstStyle>
            <a:lvl1pPr algn="ctr">
              <a:defRPr sz="4875" b="1">
                <a:solidFill>
                  <a:schemeClr val="tx1">
                    <a:lumMod val="75000"/>
                    <a:lumOff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967798"/>
            <a:ext cx="9144000" cy="1655763"/>
          </a:xfrm>
        </p:spPr>
        <p:txBody>
          <a:bodyPr/>
          <a:lstStyle>
            <a:lvl1pPr marL="0" indent="0" algn="ctr">
              <a:buNone/>
              <a:defRPr sz="1950">
                <a:solidFill>
                  <a:srgbClr val="0B538B"/>
                </a:solidFill>
              </a:defRPr>
            </a:lvl1pPr>
            <a:lvl2pPr marL="371464" indent="0" algn="ctr">
              <a:buNone/>
              <a:defRPr sz="1625"/>
            </a:lvl2pPr>
            <a:lvl3pPr marL="742927" indent="0" algn="ctr">
              <a:buNone/>
              <a:defRPr sz="1462"/>
            </a:lvl3pPr>
            <a:lvl4pPr marL="1114391" indent="0" algn="ctr">
              <a:buNone/>
              <a:defRPr sz="1300"/>
            </a:lvl4pPr>
            <a:lvl5pPr marL="1485854" indent="0" algn="ctr">
              <a:buNone/>
              <a:defRPr sz="1300"/>
            </a:lvl5pPr>
            <a:lvl6pPr marL="1857318" indent="0" algn="ctr">
              <a:buNone/>
              <a:defRPr sz="1300"/>
            </a:lvl6pPr>
            <a:lvl7pPr marL="2228781" indent="0" algn="ctr">
              <a:buNone/>
              <a:defRPr sz="1300"/>
            </a:lvl7pPr>
            <a:lvl8pPr marL="2600245" indent="0" algn="ctr">
              <a:buNone/>
              <a:defRPr sz="1300"/>
            </a:lvl8pPr>
            <a:lvl9pPr marL="2971709" indent="0" algn="ctr">
              <a:buNone/>
              <a:defRPr sz="1300"/>
            </a:lvl9pPr>
          </a:lstStyle>
          <a:p>
            <a:r>
              <a:rPr lang="es-ES" dirty="0"/>
              <a:t>Haga clic para modificar el estilo de subtítulo del patrón</a:t>
            </a:r>
            <a:endParaRPr lang="es-ES_trad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0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Parrafo Ejemp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1071" y="1089447"/>
            <a:ext cx="11838408" cy="720397"/>
          </a:xfrm>
        </p:spPr>
        <p:txBody>
          <a:bodyPr/>
          <a:lstStyle>
            <a:lvl1pPr>
              <a:defRPr sz="3850">
                <a:solidFill>
                  <a:srgbClr val="01548B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3"/>
          </p:nvPr>
        </p:nvSpPr>
        <p:spPr>
          <a:xfrm>
            <a:off x="141070" y="1912684"/>
            <a:ext cx="11838409" cy="164202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4" name="Marcador de texto 12"/>
          <p:cNvSpPr>
            <a:spLocks noGrp="1"/>
          </p:cNvSpPr>
          <p:nvPr>
            <p:ph type="body" sz="quarter" idx="14"/>
          </p:nvPr>
        </p:nvSpPr>
        <p:spPr>
          <a:xfrm>
            <a:off x="141069" y="3663070"/>
            <a:ext cx="5538462" cy="2331708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7" name="Marcador de imagen 16"/>
          <p:cNvSpPr>
            <a:spLocks noGrp="1"/>
          </p:cNvSpPr>
          <p:nvPr>
            <p:ph type="pic" sz="quarter" idx="15"/>
          </p:nvPr>
        </p:nvSpPr>
        <p:spPr>
          <a:xfrm>
            <a:off x="6203077" y="3663893"/>
            <a:ext cx="5776402" cy="23308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s-ES" noProof="0" dirty="0"/>
              <a:t>Haga clic en el icono para agregar una imagen</a:t>
            </a:r>
            <a:endParaRPr lang="es-ES_tradnl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7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2"/>
          <p:cNvSpPr>
            <a:spLocks noGrp="1"/>
          </p:cNvSpPr>
          <p:nvPr>
            <p:ph idx="1"/>
          </p:nvPr>
        </p:nvSpPr>
        <p:spPr bwMode="auto">
          <a:xfrm>
            <a:off x="235670" y="1750623"/>
            <a:ext cx="11670384" cy="475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_tradnl" dirty="0"/>
              <a:t>Haga clic para modificar el estilo de texto del patrón</a:t>
            </a:r>
          </a:p>
        </p:txBody>
      </p:sp>
      <p:sp>
        <p:nvSpPr>
          <p:cNvPr id="9" name="Marcador de título 1"/>
          <p:cNvSpPr>
            <a:spLocks noGrp="1"/>
          </p:cNvSpPr>
          <p:nvPr>
            <p:ph type="title"/>
          </p:nvPr>
        </p:nvSpPr>
        <p:spPr bwMode="auto">
          <a:xfrm>
            <a:off x="235670" y="1030623"/>
            <a:ext cx="11670384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_tradnl" dirty="0"/>
              <a:t>Clic para editar título</a:t>
            </a:r>
            <a:endParaRPr lang="es-ES_tradnl" altLang="es-ES_trad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7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1548B"/>
                </a:solidFill>
              </a:defRPr>
            </a:lvl1pPr>
          </a:lstStyle>
          <a:p>
            <a:r>
              <a:rPr lang="es-ES" altLang="es-ES_tradnl" dirty="0"/>
              <a:t>Clic para editar título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 algn="just">
              <a:buFont typeface="Arial" panose="020B0604020202020204" pitchFamily="34" charset="0"/>
              <a:buNone/>
              <a:defRPr lang="es-ES_tradnl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71463" indent="0" algn="just">
              <a:buFont typeface="Arial" panose="020B0604020202020204" pitchFamily="34" charset="0"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742927" indent="0" algn="just">
              <a:buFont typeface="Arial" panose="020B0604020202020204" pitchFamily="34" charset="0"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114390" indent="0" algn="just">
              <a:buFont typeface="Arial" panose="020B0604020202020204" pitchFamily="34" charset="0"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485854" indent="0" algn="just">
              <a:buFont typeface="Arial" panose="020B0604020202020204" pitchFamily="34" charset="0"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0"/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546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2" y="1417133"/>
            <a:ext cx="10515600" cy="2852737"/>
          </a:xfrm>
        </p:spPr>
        <p:txBody>
          <a:bodyPr anchor="ctr" anchorCtr="0"/>
          <a:lstStyle>
            <a:lvl1pPr algn="ctr">
              <a:defRPr sz="4875">
                <a:solidFill>
                  <a:srgbClr val="6082AE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2" y="4296857"/>
            <a:ext cx="10515600" cy="1500187"/>
          </a:xfrm>
        </p:spPr>
        <p:txBody>
          <a:bodyPr anchor="ctr" anchorCtr="0"/>
          <a:lstStyle>
            <a:lvl1pPr marL="0" indent="0" algn="ctr">
              <a:buNone/>
              <a:defRPr sz="1950">
                <a:solidFill>
                  <a:schemeClr val="tx1"/>
                </a:solidFill>
              </a:defRPr>
            </a:lvl1pPr>
            <a:lvl2pPr marL="371464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27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39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85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1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78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24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70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551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1548B"/>
                </a:solidFill>
              </a:defRPr>
            </a:lvl1pPr>
          </a:lstStyle>
          <a:p>
            <a:r>
              <a:rPr lang="es-ES" altLang="es-ES_tradnl" dirty="0"/>
              <a:t>Clic para editar título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235670" y="1853834"/>
            <a:ext cx="5538462" cy="464763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67592" y="1853834"/>
            <a:ext cx="5538462" cy="464763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22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43077" y="1039112"/>
            <a:ext cx="11298462" cy="720000"/>
          </a:xfrm>
        </p:spPr>
        <p:txBody>
          <a:bodyPr/>
          <a:lstStyle>
            <a:lvl1pPr>
              <a:defRPr>
                <a:solidFill>
                  <a:srgbClr val="01548B"/>
                </a:solidFill>
              </a:defRPr>
            </a:lvl1pPr>
          </a:lstStyle>
          <a:p>
            <a:r>
              <a:rPr lang="es-ES" altLang="es-ES_tradnl" dirty="0"/>
              <a:t>Clic para editar título</a:t>
            </a:r>
            <a:endParaRPr lang="es-ES_tradnl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43077" y="1795112"/>
            <a:ext cx="5538462" cy="823912"/>
          </a:xfrm>
        </p:spPr>
        <p:txBody>
          <a:bodyPr anchor="b"/>
          <a:lstStyle>
            <a:lvl1pPr marL="0" indent="0">
              <a:buNone/>
              <a:defRPr sz="1950" b="1">
                <a:solidFill>
                  <a:srgbClr val="0B538B"/>
                </a:solidFill>
              </a:defRPr>
            </a:lvl1pPr>
            <a:lvl2pPr marL="371464" indent="0">
              <a:buNone/>
              <a:defRPr sz="1625" b="1"/>
            </a:lvl2pPr>
            <a:lvl3pPr marL="742927" indent="0">
              <a:buNone/>
              <a:defRPr sz="1462" b="1"/>
            </a:lvl3pPr>
            <a:lvl4pPr marL="1114391" indent="0">
              <a:buNone/>
              <a:defRPr sz="1300" b="1"/>
            </a:lvl4pPr>
            <a:lvl5pPr marL="1485854" indent="0">
              <a:buNone/>
              <a:defRPr sz="1300" b="1"/>
            </a:lvl5pPr>
            <a:lvl6pPr marL="1857318" indent="0">
              <a:buNone/>
              <a:defRPr sz="1300" b="1"/>
            </a:lvl6pPr>
            <a:lvl7pPr marL="2228781" indent="0">
              <a:buNone/>
              <a:defRPr sz="1300" b="1"/>
            </a:lvl7pPr>
            <a:lvl8pPr marL="2600245" indent="0">
              <a:buNone/>
              <a:defRPr sz="1300" b="1"/>
            </a:lvl8pPr>
            <a:lvl9pPr marL="2971709" indent="0">
              <a:buNone/>
              <a:defRPr sz="13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43077" y="2699659"/>
            <a:ext cx="5538462" cy="3776642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203077" y="1795112"/>
            <a:ext cx="5538462" cy="823912"/>
          </a:xfrm>
        </p:spPr>
        <p:txBody>
          <a:bodyPr anchor="b"/>
          <a:lstStyle>
            <a:lvl1pPr marL="0" indent="0">
              <a:buNone/>
              <a:defRPr sz="1950" b="1">
                <a:solidFill>
                  <a:srgbClr val="0B538B"/>
                </a:solidFill>
              </a:defRPr>
            </a:lvl1pPr>
            <a:lvl2pPr marL="371464" indent="0">
              <a:buNone/>
              <a:defRPr sz="1625" b="1"/>
            </a:lvl2pPr>
            <a:lvl3pPr marL="742927" indent="0">
              <a:buNone/>
              <a:defRPr sz="1462" b="1"/>
            </a:lvl3pPr>
            <a:lvl4pPr marL="1114391" indent="0">
              <a:buNone/>
              <a:defRPr sz="1300" b="1"/>
            </a:lvl4pPr>
            <a:lvl5pPr marL="1485854" indent="0">
              <a:buNone/>
              <a:defRPr sz="1300" b="1"/>
            </a:lvl5pPr>
            <a:lvl6pPr marL="1857318" indent="0">
              <a:buNone/>
              <a:defRPr sz="1300" b="1"/>
            </a:lvl6pPr>
            <a:lvl7pPr marL="2228781" indent="0">
              <a:buNone/>
              <a:defRPr sz="1300" b="1"/>
            </a:lvl7pPr>
            <a:lvl8pPr marL="2600245" indent="0">
              <a:buNone/>
              <a:defRPr sz="1300" b="1"/>
            </a:lvl8pPr>
            <a:lvl9pPr marL="2971709" indent="0">
              <a:buNone/>
              <a:defRPr sz="13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203077" y="2699659"/>
            <a:ext cx="5538462" cy="3776642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397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ítulo 1"/>
          <p:cNvSpPr>
            <a:spLocks noGrp="1"/>
          </p:cNvSpPr>
          <p:nvPr>
            <p:ph type="title"/>
          </p:nvPr>
        </p:nvSpPr>
        <p:spPr bwMode="auto">
          <a:xfrm>
            <a:off x="235670" y="1030623"/>
            <a:ext cx="11670384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_tradnl" dirty="0"/>
              <a:t>Clic para editar título</a:t>
            </a:r>
            <a:endParaRPr lang="es-ES_tradnl" altLang="es-ES_trad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438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3077" y="1039112"/>
            <a:ext cx="4430769" cy="1069975"/>
          </a:xfrm>
        </p:spPr>
        <p:txBody>
          <a:bodyPr anchor="b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095385" y="1039112"/>
            <a:ext cx="6646154" cy="5434563"/>
          </a:xfrm>
        </p:spPr>
        <p:txBody>
          <a:bodyPr/>
          <a:lstStyle>
            <a:lvl1pPr>
              <a:defRPr sz="22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9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3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43077" y="2155111"/>
            <a:ext cx="4430769" cy="4318564"/>
          </a:xfrm>
        </p:spPr>
        <p:txBody>
          <a:bodyPr/>
          <a:lstStyle>
            <a:lvl1pPr marL="0" indent="0">
              <a:buNone/>
              <a:defRPr sz="2400">
                <a:solidFill>
                  <a:srgbClr val="0B538B"/>
                </a:solidFill>
              </a:defRPr>
            </a:lvl1pPr>
            <a:lvl2pPr marL="371464" indent="0">
              <a:buNone/>
              <a:defRPr sz="1137"/>
            </a:lvl2pPr>
            <a:lvl3pPr marL="742927" indent="0">
              <a:buNone/>
              <a:defRPr sz="975"/>
            </a:lvl3pPr>
            <a:lvl4pPr marL="1114391" indent="0">
              <a:buNone/>
              <a:defRPr sz="812"/>
            </a:lvl4pPr>
            <a:lvl5pPr marL="1485854" indent="0">
              <a:buNone/>
              <a:defRPr sz="812"/>
            </a:lvl5pPr>
            <a:lvl6pPr marL="1857318" indent="0">
              <a:buNone/>
              <a:defRPr sz="812"/>
            </a:lvl6pPr>
            <a:lvl7pPr marL="2228781" indent="0">
              <a:buNone/>
              <a:defRPr sz="812"/>
            </a:lvl7pPr>
            <a:lvl8pPr marL="2600245" indent="0">
              <a:buNone/>
              <a:defRPr sz="812"/>
            </a:lvl8pPr>
            <a:lvl9pPr marL="2971709" indent="0">
              <a:buNone/>
              <a:defRPr sz="812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19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3076" y="1030724"/>
            <a:ext cx="4430769" cy="1069975"/>
          </a:xfrm>
        </p:spPr>
        <p:txBody>
          <a:bodyPr anchor="b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095385" y="1030724"/>
            <a:ext cx="6646154" cy="5462355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1464" indent="0">
              <a:buNone/>
              <a:defRPr sz="2275"/>
            </a:lvl2pPr>
            <a:lvl3pPr marL="742927" indent="0">
              <a:buNone/>
              <a:defRPr sz="1950"/>
            </a:lvl3pPr>
            <a:lvl4pPr marL="1114391" indent="0">
              <a:buNone/>
              <a:defRPr sz="1625"/>
            </a:lvl4pPr>
            <a:lvl5pPr marL="1485854" indent="0">
              <a:buNone/>
              <a:defRPr sz="1625"/>
            </a:lvl5pPr>
            <a:lvl6pPr marL="1857318" indent="0">
              <a:buNone/>
              <a:defRPr sz="1625"/>
            </a:lvl6pPr>
            <a:lvl7pPr marL="2228781" indent="0">
              <a:buNone/>
              <a:defRPr sz="1625"/>
            </a:lvl7pPr>
            <a:lvl8pPr marL="2600245" indent="0">
              <a:buNone/>
              <a:defRPr sz="1625"/>
            </a:lvl8pPr>
            <a:lvl9pPr marL="2971709" indent="0">
              <a:buNone/>
              <a:defRPr sz="1625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s-ES_tradnl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43076" y="2146723"/>
            <a:ext cx="4430769" cy="4346356"/>
          </a:xfrm>
        </p:spPr>
        <p:txBody>
          <a:bodyPr/>
          <a:lstStyle>
            <a:lvl1pPr marL="0" indent="0">
              <a:buNone/>
              <a:defRPr sz="1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1464" indent="0">
              <a:buNone/>
              <a:defRPr sz="1137"/>
            </a:lvl2pPr>
            <a:lvl3pPr marL="742927" indent="0">
              <a:buNone/>
              <a:defRPr sz="975"/>
            </a:lvl3pPr>
            <a:lvl4pPr marL="1114391" indent="0">
              <a:buNone/>
              <a:defRPr sz="812"/>
            </a:lvl4pPr>
            <a:lvl5pPr marL="1485854" indent="0">
              <a:buNone/>
              <a:defRPr sz="812"/>
            </a:lvl5pPr>
            <a:lvl6pPr marL="1857318" indent="0">
              <a:buNone/>
              <a:defRPr sz="812"/>
            </a:lvl6pPr>
            <a:lvl7pPr marL="2228781" indent="0">
              <a:buNone/>
              <a:defRPr sz="812"/>
            </a:lvl7pPr>
            <a:lvl8pPr marL="2600245" indent="0">
              <a:buNone/>
              <a:defRPr sz="812"/>
            </a:lvl8pPr>
            <a:lvl9pPr marL="2971709" indent="0">
              <a:buNone/>
              <a:defRPr sz="812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9259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1548B"/>
                </a:solidFill>
              </a:defRPr>
            </a:lvl1pPr>
          </a:lstStyle>
          <a:p>
            <a:r>
              <a:rPr lang="es-ES" altLang="es-ES_tradnl" dirty="0"/>
              <a:t>Clic para editar título</a:t>
            </a:r>
            <a:endParaRPr lang="es-ES_tradnl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1E91D-9759-4317-BFBB-5131C773DE88}" type="datetimeFigureOut">
              <a:rPr lang="es-ES_tradnl"/>
              <a:pPr>
                <a:defRPr/>
              </a:pPr>
              <a:t>02/07/2026</a:t>
            </a:fld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1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E2D8-8235-4C9F-9894-CCEC783FC470}" type="slidenum">
              <a:rPr lang="es-ES_tradnl"/>
              <a:pPr>
                <a:defRPr/>
              </a:pPr>
              <a:t>‹#›</a:t>
            </a:fld>
            <a:endParaRPr lang="es-ES_tradnl"/>
          </a:p>
        </p:txBody>
      </p:sp>
      <p:sp>
        <p:nvSpPr>
          <p:cNvPr id="6" name="Marcador de pie de página 6"/>
          <p:cNvSpPr>
            <a:spLocks noGrp="1"/>
          </p:cNvSpPr>
          <p:nvPr>
            <p:ph type="ftr" sz="quarter" idx="12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700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61538" y="972000"/>
            <a:ext cx="2880000" cy="5116259"/>
          </a:xfrm>
        </p:spPr>
        <p:txBody>
          <a:bodyPr vert="eaVer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altLang="es-ES_tradnl" dirty="0"/>
              <a:t>Clic para editar título</a:t>
            </a:r>
            <a:endParaRPr lang="es-ES_tradnl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43077" y="972001"/>
            <a:ext cx="8275658" cy="5116259"/>
          </a:xfrm>
        </p:spPr>
        <p:txBody>
          <a:bodyPr vert="eaVert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B95EC-B834-4F4F-A06A-0DF3A922C173}" type="datetimeFigureOut">
              <a:rPr lang="es-ES_tradnl"/>
              <a:pPr>
                <a:defRPr/>
              </a:pPr>
              <a:t>02/07/2026</a:t>
            </a:fld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1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22537-51FC-4767-9CA4-7D65278CB5D2}" type="slidenum">
              <a:rPr lang="es-ES_tradnl"/>
              <a:pPr>
                <a:defRPr/>
              </a:pPr>
              <a:t>‹#›</a:t>
            </a:fld>
            <a:endParaRPr lang="es-ES_tradnl"/>
          </a:p>
        </p:txBody>
      </p:sp>
      <p:sp>
        <p:nvSpPr>
          <p:cNvPr id="6" name="Marcador de pie de página 6"/>
          <p:cNvSpPr>
            <a:spLocks noGrp="1"/>
          </p:cNvSpPr>
          <p:nvPr>
            <p:ph type="ftr" sz="quarter" idx="12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90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E6BCB261-A82C-45A9-8CCF-6F026D1DE355}"/>
              </a:ext>
            </a:extLst>
          </p:cNvPr>
          <p:cNvSpPr txBox="1"/>
          <p:nvPr userDrawn="1"/>
        </p:nvSpPr>
        <p:spPr>
          <a:xfrm>
            <a:off x="12059364" y="783604"/>
            <a:ext cx="123111" cy="63343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vert270" wrap="square" lIns="0" tIns="0" rIns="0" bIns="0">
            <a:spAutoFit/>
          </a:bodyPr>
          <a:lstStyle/>
          <a:p>
            <a:pPr algn="ctr"/>
            <a:r>
              <a:rPr lang="es-MX" sz="800" b="0" i="0" cap="none" spc="0" dirty="0">
                <a:ln w="0"/>
                <a:solidFill>
                  <a:srgbClr val="00538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Queda expresamente prohibida la reproducción total o parcial de este contenido</a:t>
            </a:r>
            <a:endParaRPr lang="es-EC" sz="800" b="0" cap="none" spc="0" dirty="0">
              <a:ln w="0"/>
              <a:solidFill>
                <a:srgbClr val="00538A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2" descr="Licencia Creative Commons">
            <a:extLst>
              <a:ext uri="{FF2B5EF4-FFF2-40B4-BE49-F238E27FC236}">
                <a16:creationId xmlns:a16="http://schemas.microsoft.com/office/drawing/2014/main" id="{652276EB-4734-422B-BDB0-647FD9F6DB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0146" y="6211092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235670" y="1750623"/>
            <a:ext cx="11670384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_tradnl" dirty="0"/>
              <a:t>Haga clic para modificar el estilo de texto del patrón</a:t>
            </a:r>
          </a:p>
        </p:txBody>
      </p:sp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235670" y="1030623"/>
            <a:ext cx="11670384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_tradnl" dirty="0"/>
              <a:t>Editar título de contenido</a:t>
            </a:r>
            <a:endParaRPr lang="es-ES_tradnl" altLang="es-ES_tradnl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8" r:id="rId11"/>
    <p:sldLayoutId id="2147483659" r:id="rId12"/>
    <p:sldLayoutId id="2147483660" r:id="rId13"/>
    <p:sldLayoutId id="2147483661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 kern="1200">
          <a:solidFill>
            <a:srgbClr val="01548B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5pPr>
      <a:lvl6pPr marL="37146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6pPr>
      <a:lvl7pPr marL="74292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7pPr>
      <a:lvl8pPr marL="111439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8pPr>
      <a:lvl9pPr marL="14858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75" b="1">
          <a:solidFill>
            <a:srgbClr val="B98301"/>
          </a:solidFill>
          <a:latin typeface="Calibri Light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812"/>
        </a:spcBef>
        <a:spcAft>
          <a:spcPct val="0"/>
        </a:spcAft>
        <a:buFont typeface="Arial" panose="020B0604020202020204" pitchFamily="34" charset="0"/>
        <a:buNone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195" indent="-185732" algn="l" rtl="0" eaLnBrk="1" fontAlgn="base" hangingPunct="1">
        <a:lnSpc>
          <a:spcPct val="90000"/>
        </a:lnSpc>
        <a:spcBef>
          <a:spcPts val="406"/>
        </a:spcBef>
        <a:spcAft>
          <a:spcPct val="0"/>
        </a:spcAft>
        <a:buFont typeface="Arial" panose="020B0604020202020204" pitchFamily="34" charset="0"/>
        <a:buChar char="•"/>
        <a:defRPr sz="19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28659" indent="-185732" algn="l" rtl="0" eaLnBrk="1" fontAlgn="base" hangingPunct="1">
        <a:lnSpc>
          <a:spcPct val="90000"/>
        </a:lnSpc>
        <a:spcBef>
          <a:spcPts val="406"/>
        </a:spcBef>
        <a:spcAft>
          <a:spcPct val="0"/>
        </a:spcAft>
        <a:buFont typeface="Arial" panose="020B0604020202020204" pitchFamily="34" charset="0"/>
        <a:buChar char="•"/>
        <a:defRPr sz="16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00122" indent="-185732" algn="l" rtl="0" eaLnBrk="1" fontAlgn="base" hangingPunct="1">
        <a:lnSpc>
          <a:spcPct val="90000"/>
        </a:lnSpc>
        <a:spcBef>
          <a:spcPts val="406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71586" indent="-185732" algn="l" rtl="0" eaLnBrk="1" fontAlgn="base" hangingPunct="1">
        <a:lnSpc>
          <a:spcPct val="90000"/>
        </a:lnSpc>
        <a:spcBef>
          <a:spcPts val="406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43050" indent="-185732" algn="l" defTabSz="742927" rtl="0" eaLnBrk="1" latinLnBrk="0" hangingPunct="1">
        <a:lnSpc>
          <a:spcPct val="90000"/>
        </a:lnSpc>
        <a:spcBef>
          <a:spcPts val="406"/>
        </a:spcBef>
        <a:buFont typeface="Arial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513" indent="-185732" algn="l" defTabSz="742927" rtl="0" eaLnBrk="1" latinLnBrk="0" hangingPunct="1">
        <a:lnSpc>
          <a:spcPct val="90000"/>
        </a:lnSpc>
        <a:spcBef>
          <a:spcPts val="406"/>
        </a:spcBef>
        <a:buFont typeface="Arial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977" indent="-185732" algn="l" defTabSz="742927" rtl="0" eaLnBrk="1" latinLnBrk="0" hangingPunct="1">
        <a:lnSpc>
          <a:spcPct val="90000"/>
        </a:lnSpc>
        <a:spcBef>
          <a:spcPts val="406"/>
        </a:spcBef>
        <a:buFont typeface="Arial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440" indent="-185732" algn="l" defTabSz="742927" rtl="0" eaLnBrk="1" latinLnBrk="0" hangingPunct="1">
        <a:lnSpc>
          <a:spcPct val="90000"/>
        </a:lnSpc>
        <a:spcBef>
          <a:spcPts val="406"/>
        </a:spcBef>
        <a:buFont typeface="Arial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64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927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391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854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318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781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245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709" algn="l" defTabSz="742927" rtl="0" eaLnBrk="1" latinLnBrk="0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2.xml"/><Relationship Id="rId4" Type="http://schemas.openxmlformats.org/officeDocument/2006/relationships/hyperlink" Target="https://padlet.com/andreagarciaangulo/uteg-sesion1-actividad-3sdq8d9qvtxlapt2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github.com/acgarciaa/UTEG-Metodos-Estadisticos.gi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4.xml"/><Relationship Id="rId6" Type="http://schemas.openxmlformats.org/officeDocument/2006/relationships/hyperlink" Target="https://drive.google.com/drive/folders/1G3dZC9y5Chab94xANPp8SJH-5T_qW_Te?usp=drive_link" TargetMode="External"/><Relationship Id="rId5" Type="http://schemas.openxmlformats.org/officeDocument/2006/relationships/hyperlink" Target="https://github.com/acgarciaa/Clase-demostrativa-UTEG.git" TargetMode="External"/><Relationship Id="rId4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6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7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0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book/10.1002/9781119526865" TargetMode="Externa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83CCEC-77BA-4C8D-9E9A-04F629B79D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>
                <a:solidFill>
                  <a:srgbClr val="6082AE"/>
                </a:solidFill>
              </a:rPr>
              <a:t>Andrea García Angulo </a:t>
            </a:r>
          </a:p>
          <a:p>
            <a:r>
              <a:rPr lang="es-EC" dirty="0" err="1">
                <a:solidFill>
                  <a:srgbClr val="6082AE"/>
                </a:solidFill>
              </a:rPr>
              <a:t>Ph.D</a:t>
            </a:r>
            <a:r>
              <a:rPr lang="es-EC" dirty="0">
                <a:solidFill>
                  <a:srgbClr val="6082AE"/>
                </a:solidFill>
              </a:rPr>
              <a:t>. en Estadística</a:t>
            </a:r>
          </a:p>
          <a:p>
            <a:r>
              <a:rPr lang="es-EC" dirty="0">
                <a:solidFill>
                  <a:srgbClr val="6082AE"/>
                </a:solidFill>
              </a:rPr>
              <a:t>DOCENTE AUTOR:  Manuel Choez Salazar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72E0F5-7699-4B11-9CD1-497CA924B1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Métodos Estadísticos para el Análisis y Procesamiento de Datos Masivos</a:t>
            </a:r>
            <a:endParaRPr lang="es-EC" dirty="0">
              <a:solidFill>
                <a:srgbClr val="01548B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86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408105" y="1205260"/>
            <a:ext cx="10515600" cy="1856917"/>
          </a:xfrm>
        </p:spPr>
        <p:txBody>
          <a:bodyPr/>
          <a:lstStyle/>
          <a:p>
            <a:r>
              <a:rPr lang="es-MX" dirty="0"/>
              <a:t>Unidad I – </a:t>
            </a:r>
            <a:r>
              <a:rPr lang="es-EC" dirty="0"/>
              <a:t>Análisis descriptivo de datos utilizando lenguaje estadístico R y lenguaje de programación Python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58F212-8C14-44DE-BB5D-E75C5D1D5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184" y="3604181"/>
            <a:ext cx="10515600" cy="2172898"/>
          </a:xfrm>
        </p:spPr>
        <p:txBody>
          <a:bodyPr/>
          <a:lstStyle/>
          <a:p>
            <a:pPr algn="l"/>
            <a:r>
              <a:rPr lang="es-MX" dirty="0"/>
              <a:t>1.1 </a:t>
            </a:r>
            <a:r>
              <a:rPr lang="es-EC" dirty="0"/>
              <a:t>Introducción a Estadística descriptiva</a:t>
            </a:r>
            <a:endParaRPr lang="es-MX" dirty="0"/>
          </a:p>
          <a:p>
            <a:pPr algn="l"/>
            <a:r>
              <a:rPr lang="es-MX" dirty="0"/>
              <a:t>1.2 </a:t>
            </a:r>
            <a:r>
              <a:rPr lang="es-EC" dirty="0"/>
              <a:t>Obtención y limpieza de datos </a:t>
            </a:r>
            <a:endParaRPr lang="es-MX" dirty="0"/>
          </a:p>
          <a:p>
            <a:pPr algn="l"/>
            <a:r>
              <a:rPr lang="es-MX" dirty="0"/>
              <a:t>1.3 </a:t>
            </a:r>
            <a:r>
              <a:rPr lang="es-EC" dirty="0"/>
              <a:t>Uso del lenguaje estadístico R para procesamiento y análisis descriptivo de datos </a:t>
            </a:r>
            <a:endParaRPr lang="es-MX" dirty="0"/>
          </a:p>
          <a:p>
            <a:pPr algn="l"/>
            <a:r>
              <a:rPr lang="es-MX" dirty="0"/>
              <a:t>1.4 </a:t>
            </a:r>
            <a:r>
              <a:rPr lang="es-EC" dirty="0"/>
              <a:t>Uso del lenguaje de programación Python para procesamiento y análisis descriptivo de datos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722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Compromisos del estudiante.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C" dirty="0"/>
              <a:t>El estudiante deberá comprometerse a entregar las </a:t>
            </a:r>
            <a:r>
              <a:rPr lang="es-EC" b="1" dirty="0"/>
              <a:t>actividades y tareas</a:t>
            </a:r>
            <a:r>
              <a:rPr lang="es-EC" dirty="0"/>
              <a:t> a tiempo y correctamente desarrolladas.</a:t>
            </a:r>
          </a:p>
          <a:p>
            <a:pPr algn="just"/>
            <a:r>
              <a:rPr lang="es-EC" dirty="0"/>
              <a:t>Es obligación del estudiante estar pendiente de notificaciones y actividades que se realicen mediante plataforma.</a:t>
            </a:r>
          </a:p>
          <a:p>
            <a:pPr algn="just"/>
            <a:r>
              <a:rPr lang="es-EC" dirty="0"/>
              <a:t>El estudiante deberá realizar preguntas de cualquier tipo de dudas que surjan en el desarrollo de la asignatura, al </a:t>
            </a:r>
            <a:r>
              <a:rPr lang="es-EC" b="1" dirty="0"/>
              <a:t>docente tutor</a:t>
            </a:r>
            <a:r>
              <a:rPr lang="es-EC" dirty="0"/>
              <a:t>. </a:t>
            </a:r>
          </a:p>
          <a:p>
            <a:pPr algn="just"/>
            <a:r>
              <a:rPr lang="es-EC" dirty="0"/>
              <a:t>El estudiante tendrá una participación activa y constructiva en los foros académicos planteados.</a:t>
            </a:r>
          </a:p>
          <a:p>
            <a:pPr algn="just"/>
            <a:r>
              <a:rPr lang="es-EC" dirty="0"/>
              <a:t>El estudiante deberá revisar con responsabilidad los temas anticipadamente según la programación.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15962" y="6443702"/>
            <a:ext cx="23273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>
                <a:solidFill>
                  <a:schemeClr val="bg1"/>
                </a:solidFill>
              </a:rPr>
              <a:t>Como estudiar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169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Compromisos del docente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C" dirty="0"/>
              <a:t>Me comprometo a responder todas las inquietudes planteadas por cada uno de ustedes a lo largo del curso, </a:t>
            </a:r>
            <a:r>
              <a:rPr lang="es-EC" b="1" dirty="0"/>
              <a:t>desde los diferentes canales de comunicación del campus virtual.</a:t>
            </a:r>
          </a:p>
          <a:p>
            <a:pPr algn="just"/>
            <a:r>
              <a:rPr lang="es-EC" dirty="0"/>
              <a:t>Me comprometo a calificar los talleres en un plazo de máximo 2 días a partir de la fecha límite de entrega.</a:t>
            </a:r>
          </a:p>
          <a:p>
            <a:r>
              <a:rPr lang="es-EC" b="1" dirty="0">
                <a:solidFill>
                  <a:schemeClr val="tx1"/>
                </a:solidFill>
              </a:rPr>
              <a:t>Me comprometo a notificar anticipadamente las pautas de alguna actividad en especifico.</a:t>
            </a:r>
          </a:p>
          <a:p>
            <a:pPr algn="just"/>
            <a:r>
              <a:rPr lang="es-EC" dirty="0"/>
              <a:t>Enviaré recordatorios del tema que se abordará en la nueva semana de clases.</a:t>
            </a:r>
          </a:p>
          <a:p>
            <a:pPr algn="just"/>
            <a:r>
              <a:rPr lang="es-EC" b="1" dirty="0"/>
              <a:t>Utilizaré herramientas digitales durante las clases para complementar el proceso de enseñanza y aprendizaje. </a:t>
            </a:r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  <p:sp>
        <p:nvSpPr>
          <p:cNvPr id="4" name="Rectángulo 3"/>
          <p:cNvSpPr/>
          <p:nvPr/>
        </p:nvSpPr>
        <p:spPr>
          <a:xfrm>
            <a:off x="1215962" y="6443702"/>
            <a:ext cx="23273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>
                <a:solidFill>
                  <a:schemeClr val="bg1"/>
                </a:solidFill>
              </a:rPr>
              <a:t>Como estudiar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956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Instrucciones de estudio de la materia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C" dirty="0"/>
              <a:t>Revisar y seguir la </a:t>
            </a:r>
            <a:r>
              <a:rPr lang="es-EC" b="1" dirty="0"/>
              <a:t>Ruta de Aprendizaje </a:t>
            </a:r>
            <a:r>
              <a:rPr lang="es-EC" dirty="0"/>
              <a:t>disponible en el sistema.</a:t>
            </a:r>
          </a:p>
          <a:p>
            <a:pPr algn="just"/>
            <a:r>
              <a:rPr lang="es-EC" dirty="0"/>
              <a:t>Leer con atención cada concepto y tema planteado.</a:t>
            </a:r>
          </a:p>
          <a:p>
            <a:pPr algn="just"/>
            <a:r>
              <a:rPr lang="es-EC" dirty="0"/>
              <a:t>Completar las auto-evaluaciones de forma responsable.</a:t>
            </a:r>
          </a:p>
          <a:p>
            <a:pPr algn="just"/>
            <a:r>
              <a:rPr lang="es-EC" dirty="0"/>
              <a:t>Los estudiantes deberán dar respuesta a los foros, debidamente fundamentada y de su propio intelecto.</a:t>
            </a:r>
          </a:p>
          <a:p>
            <a:pPr algn="just"/>
            <a:r>
              <a:rPr lang="es-EC" dirty="0"/>
              <a:t>Revisar detenidamente los  </a:t>
            </a:r>
            <a:r>
              <a:rPr lang="es-EC" b="1" dirty="0"/>
              <a:t>videos </a:t>
            </a:r>
            <a:r>
              <a:rPr lang="es-EC" dirty="0"/>
              <a:t>de las clases grabadas. </a:t>
            </a:r>
          </a:p>
          <a:p>
            <a:pPr algn="just"/>
            <a:r>
              <a:rPr lang="es-EC" dirty="0"/>
              <a:t>Participar constructivamente en los</a:t>
            </a:r>
            <a:r>
              <a:rPr lang="es-EC" b="1" dirty="0"/>
              <a:t> foros, mensajería, sesiones prácticas, entre otras. </a:t>
            </a:r>
            <a:r>
              <a:rPr lang="es-EC" dirty="0"/>
              <a:t> </a:t>
            </a:r>
            <a:endParaRPr lang="es-EC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430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3F69C-75EA-4EB5-BB9F-5AE378EB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FF114-E3B0-49FF-9C4F-5C552BE7D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s-EC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EC" b="1" dirty="0"/>
              <a:t>Identificar</a:t>
            </a:r>
            <a:r>
              <a:rPr lang="es-EC" dirty="0"/>
              <a:t> la estructura de un conjunto de datos, los tipos de variables y las principales medidas y gráficos descriptivos utilizados en el análisis exploratorio de datos.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EC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EC" b="1" dirty="0"/>
              <a:t>Aplicar</a:t>
            </a:r>
            <a:r>
              <a:rPr lang="es-EC" dirty="0"/>
              <a:t> herramientas básicas de R y Python para importar, manipular y resumir conjuntos de datos mediante estadísticas descriptivas y visualizaciones.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EC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EC" b="1" dirty="0"/>
              <a:t>Interpretar</a:t>
            </a:r>
            <a:r>
              <a:rPr lang="es-EC" dirty="0"/>
              <a:t> los resultados obtenidos a partir de medidas estadísticas y representaciones gráficas para extraer conclusiones preliminares que apoyen la toma de decisiones basada en datos.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727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29B1-1790-BB0D-C105-F93C46E5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6622A-1549-F4CF-B545-94A60FAE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1.1 </a:t>
            </a:r>
            <a:r>
              <a:rPr lang="es-EC" dirty="0"/>
              <a:t>Introducción a Estadística descriptiva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8738B479-2365-4EB8-8ED9-74D0BCF7C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3017893" cy="549879"/>
          </a:xfrm>
        </p:spPr>
        <p:txBody>
          <a:bodyPr/>
          <a:lstStyle/>
          <a:p>
            <a:r>
              <a:rPr lang="es-EC" b="1" dirty="0"/>
              <a:t>Población vs muestra</a:t>
            </a:r>
          </a:p>
          <a:p>
            <a:endParaRPr lang="es-EC" b="1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C28ADD-F1FD-0547-7116-F5DA7001F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82" y="2098480"/>
            <a:ext cx="3311605" cy="24203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FE85C6-29B3-1539-E890-1CAF756E7381}"/>
              </a:ext>
            </a:extLst>
          </p:cNvPr>
          <p:cNvSpPr txBox="1"/>
          <p:nvPr/>
        </p:nvSpPr>
        <p:spPr>
          <a:xfrm>
            <a:off x="285946" y="4617406"/>
            <a:ext cx="2818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Población: </a:t>
            </a:r>
            <a:r>
              <a:rPr lang="es-EC" dirty="0"/>
              <a:t>Conjunto bien definido de </a:t>
            </a:r>
            <a:r>
              <a:rPr lang="es-EC" b="1" dirty="0"/>
              <a:t>N</a:t>
            </a:r>
            <a:r>
              <a:rPr lang="es-EC" dirty="0"/>
              <a:t> elementos que tienen una o más características en común, cuyo comportamiento nos interesa analizar.</a:t>
            </a:r>
            <a:endParaRPr lang="es-EC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63D71A-F786-7148-3F0D-4E046C8FCCBE}"/>
              </a:ext>
            </a:extLst>
          </p:cNvPr>
          <p:cNvSpPr txBox="1"/>
          <p:nvPr/>
        </p:nvSpPr>
        <p:spPr>
          <a:xfrm>
            <a:off x="2987748" y="4603898"/>
            <a:ext cx="24773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dirty="0"/>
              <a:t>Muestra: </a:t>
            </a:r>
            <a:r>
              <a:rPr lang="es-EC" dirty="0"/>
              <a:t>Cualquier subconjunto de tamaño </a:t>
            </a:r>
            <a:r>
              <a:rPr lang="es-EC" b="1" dirty="0"/>
              <a:t>n</a:t>
            </a:r>
            <a:r>
              <a:rPr lang="es-EC" dirty="0"/>
              <a:t> de la población que contiene los elementos que pueden ser observados.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3584935A-DE9D-CED4-26DC-F440D1CB2929}"/>
              </a:ext>
            </a:extLst>
          </p:cNvPr>
          <p:cNvSpPr txBox="1">
            <a:spLocks/>
          </p:cNvSpPr>
          <p:nvPr/>
        </p:nvSpPr>
        <p:spPr bwMode="auto">
          <a:xfrm>
            <a:off x="5465133" y="1750623"/>
            <a:ext cx="5486402" cy="90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lang="es-ES_tradnl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71463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42927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14390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85854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dirty="0"/>
              <a:t>Variable:  </a:t>
            </a:r>
            <a:r>
              <a:rPr lang="es-EC" dirty="0"/>
              <a:t>una condición o característica de un elemento de estudio</a:t>
            </a:r>
            <a:endParaRPr lang="es-EC" b="1" dirty="0"/>
          </a:p>
          <a:p>
            <a:endParaRPr lang="es-EC" b="1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BDB3E7-D47F-0018-3F81-769BE7648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509" y="2777701"/>
            <a:ext cx="5758873" cy="20063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12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8E1BF-75D7-B22B-1E99-66C80BE1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574EE-523F-FEBD-C878-F0CB497E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Tipos de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0D1DA-FACF-12AB-EAF0-B0ED28B3C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b="1" dirty="0"/>
              <a:t>Cualitativas (categóricas)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Nominal: </a:t>
            </a:r>
            <a:r>
              <a:rPr lang="es-EC" dirty="0"/>
              <a:t>No existe orden. </a:t>
            </a:r>
            <a:r>
              <a:rPr lang="es-EC" i="1" u="sng" dirty="0"/>
              <a:t>Ejemplo</a:t>
            </a:r>
            <a:r>
              <a:rPr lang="es-EC" dirty="0"/>
              <a:t>: sexo, estado civil, profesión.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Ordinal:</a:t>
            </a:r>
            <a:r>
              <a:rPr lang="es-EC" dirty="0"/>
              <a:t> Existe un cierto orden. </a:t>
            </a:r>
            <a:r>
              <a:rPr lang="es-EC" i="1" u="sng" dirty="0"/>
              <a:t>Ejemplo:</a:t>
            </a:r>
            <a:r>
              <a:rPr lang="es-EC" u="sng" dirty="0"/>
              <a:t> </a:t>
            </a:r>
            <a:r>
              <a:rPr lang="es-EC" dirty="0"/>
              <a:t>nivel de instrucción, etapa de una enfermedad, clase social.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C" dirty="0"/>
          </a:p>
          <a:p>
            <a:r>
              <a:rPr lang="es-EC" b="1" dirty="0"/>
              <a:t>Cuantitativas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Discreta: </a:t>
            </a:r>
            <a:r>
              <a:rPr lang="es-EC" dirty="0"/>
              <a:t>Los valores posibles forman un conjunto </a:t>
            </a:r>
            <a:r>
              <a:rPr lang="es-EC" dirty="0" err="1"/>
              <a:t>enumerable</a:t>
            </a:r>
            <a:r>
              <a:rPr lang="es-EC" dirty="0"/>
              <a:t>. </a:t>
            </a:r>
            <a:r>
              <a:rPr lang="es-EC" i="1" u="sng" dirty="0"/>
              <a:t>Ejemplo</a:t>
            </a:r>
            <a:r>
              <a:rPr lang="es-EC" dirty="0"/>
              <a:t>: número de hijos, años cumplidos.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Continua: </a:t>
            </a:r>
            <a:r>
              <a:rPr lang="es-EC" dirty="0"/>
              <a:t>Los valores posibles están dentro de un intervalo de los números reales. </a:t>
            </a:r>
            <a:r>
              <a:rPr lang="es-EC" i="1" u="sng" dirty="0"/>
              <a:t>Ejemplo:</a:t>
            </a:r>
            <a:r>
              <a:rPr lang="es-EC" u="sng" dirty="0"/>
              <a:t> </a:t>
            </a:r>
            <a:r>
              <a:rPr lang="es-EC" dirty="0"/>
              <a:t>peso, altura, salario.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663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344DE-50E7-4C5F-8964-C3C52416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¿Qué es un conjunto de datos?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23336-608B-D9EC-E4A5-24E26A66E11F}"/>
              </a:ext>
            </a:extLst>
          </p:cNvPr>
          <p:cNvSpPr txBox="1"/>
          <p:nvPr/>
        </p:nvSpPr>
        <p:spPr>
          <a:xfrm>
            <a:off x="4635467" y="2003063"/>
            <a:ext cx="22863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Variables (columnas)</a:t>
            </a:r>
            <a:endParaRPr lang="es-EC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5B611-74F7-D05B-1459-C6064E4F2B1E}"/>
              </a:ext>
            </a:extLst>
          </p:cNvPr>
          <p:cNvSpPr txBox="1"/>
          <p:nvPr/>
        </p:nvSpPr>
        <p:spPr>
          <a:xfrm>
            <a:off x="74417" y="3276233"/>
            <a:ext cx="162678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EC" noProof="0" dirty="0"/>
              <a:t>Observaciones </a:t>
            </a:r>
          </a:p>
          <a:p>
            <a:r>
              <a:rPr lang="es-EC" noProof="0" dirty="0"/>
              <a:t>(filas)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7F02975-96AD-F8A3-4E1A-55CC925D6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828530"/>
              </p:ext>
            </p:extLst>
          </p:nvPr>
        </p:nvGraphicFramePr>
        <p:xfrm>
          <a:off x="1775636" y="2624834"/>
          <a:ext cx="8814390" cy="36799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881439">
                  <a:extLst>
                    <a:ext uri="{9D8B030D-6E8A-4147-A177-3AD203B41FA5}">
                      <a16:colId xmlns:a16="http://schemas.microsoft.com/office/drawing/2014/main" val="37999447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3290855301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2060810530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400225339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3831228362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3103642156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189168830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405545835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2987400193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592439757"/>
                    </a:ext>
                  </a:extLst>
                </a:gridCol>
              </a:tblGrid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PassengerId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Survived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Pclass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Sex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SibSp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Parch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Fare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Cabin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Embarked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17461069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7.25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73319976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71.2833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C85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29094855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7.925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7916341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53.1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C123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5804323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8.05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94214957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NA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8.4583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Q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18613590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51.8625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E46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980557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21.075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66530533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11.1333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84639029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30.0708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5528658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16.7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G6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16085314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26.55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C103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8951370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8.05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26141150"/>
                  </a:ext>
                </a:extLst>
              </a:tr>
              <a:tr h="1423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31.275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419386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7.8542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078693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C19002F-5D28-4974-ADF7-6D68F1D1C658}"/>
              </a:ext>
            </a:extLst>
          </p:cNvPr>
          <p:cNvSpPr/>
          <p:nvPr/>
        </p:nvSpPr>
        <p:spPr>
          <a:xfrm>
            <a:off x="4497572" y="3353722"/>
            <a:ext cx="765544" cy="2188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F6FFB-2CCA-730D-47C6-FBDB02B22C3F}"/>
              </a:ext>
            </a:extLst>
          </p:cNvPr>
          <p:cNvSpPr txBox="1"/>
          <p:nvPr/>
        </p:nvSpPr>
        <p:spPr>
          <a:xfrm>
            <a:off x="10696356" y="3649073"/>
            <a:ext cx="103844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r>
              <a:rPr lang="es-EC" dirty="0"/>
              <a:t>alores</a:t>
            </a:r>
            <a:endParaRPr lang="es-EC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B0E644-E522-22C8-5DBA-99A2705EEE44}"/>
              </a:ext>
            </a:extLst>
          </p:cNvPr>
          <p:cNvSpPr/>
          <p:nvPr/>
        </p:nvSpPr>
        <p:spPr>
          <a:xfrm>
            <a:off x="7903535" y="3997841"/>
            <a:ext cx="882505" cy="2126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9F9F23-0DD6-2558-CB2B-9FAE98456103}"/>
              </a:ext>
            </a:extLst>
          </p:cNvPr>
          <p:cNvCxnSpPr>
            <a:cxnSpLocks/>
          </p:cNvCxnSpPr>
          <p:nvPr/>
        </p:nvCxnSpPr>
        <p:spPr>
          <a:xfrm flipH="1">
            <a:off x="8615919" y="3922564"/>
            <a:ext cx="2048538" cy="20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ABB11C-F034-6AA8-2177-88A79BD98D25}"/>
              </a:ext>
            </a:extLst>
          </p:cNvPr>
          <p:cNvCxnSpPr>
            <a:cxnSpLocks/>
          </p:cNvCxnSpPr>
          <p:nvPr/>
        </p:nvCxnSpPr>
        <p:spPr>
          <a:xfrm flipH="1" flipV="1">
            <a:off x="5263116" y="3429000"/>
            <a:ext cx="5401341" cy="493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024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6FDAD-5259-4F9C-99E3-0F4C45B3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Tablas</a:t>
            </a:r>
            <a:r>
              <a:rPr lang="en-GB" dirty="0"/>
              <a:t> y </a:t>
            </a:r>
            <a:r>
              <a:rPr lang="en-GB" dirty="0" err="1"/>
              <a:t>gráficos</a:t>
            </a:r>
            <a:endParaRPr lang="es-EC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482CF5-FDBD-11BD-D51D-DF243F1D2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3942925" cy="4755744"/>
          </a:xfrm>
        </p:spPr>
        <p:txBody>
          <a:bodyPr/>
          <a:lstStyle/>
          <a:p>
            <a:r>
              <a:rPr lang="es-EC" b="1" dirty="0"/>
              <a:t>Variables cualitativas</a:t>
            </a:r>
          </a:p>
          <a:p>
            <a:endParaRPr lang="es-EC" u="sng" dirty="0"/>
          </a:p>
          <a:p>
            <a:pPr algn="ctr"/>
            <a:r>
              <a:rPr lang="es-EC" u="sng" dirty="0"/>
              <a:t>Tabla de frecuencia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EEACE89-06F6-4BA4-9B91-1B167CD03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829645"/>
              </p:ext>
            </p:extLst>
          </p:nvPr>
        </p:nvGraphicFramePr>
        <p:xfrm>
          <a:off x="510362" y="3312445"/>
          <a:ext cx="3487480" cy="1632099"/>
        </p:xfrm>
        <a:graphic>
          <a:graphicData uri="http://schemas.openxmlformats.org/drawingml/2006/table">
            <a:tbl>
              <a:tblPr firstRow="1" lastRow="1">
                <a:tableStyleId>{69012ECD-51FC-41F1-AA8D-1B2483CD663E}</a:tableStyleId>
              </a:tblPr>
              <a:tblGrid>
                <a:gridCol w="1228544">
                  <a:extLst>
                    <a:ext uri="{9D8B030D-6E8A-4147-A177-3AD203B41FA5}">
                      <a16:colId xmlns:a16="http://schemas.microsoft.com/office/drawing/2014/main" val="2092117447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3113557424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1703305555"/>
                    </a:ext>
                  </a:extLst>
                </a:gridCol>
              </a:tblGrid>
              <a:tr h="5394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Embarque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Frecuencia absoluta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Frecuencia relativa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88299366"/>
                  </a:ext>
                </a:extLst>
              </a:tr>
              <a:tr h="273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Cherbourg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168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0.189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9958612"/>
                  </a:ext>
                </a:extLst>
              </a:tr>
              <a:tr h="273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Queenstown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77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0.087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9301859"/>
                  </a:ext>
                </a:extLst>
              </a:tr>
              <a:tr h="273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Southampton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644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0.724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55543030"/>
                  </a:ext>
                </a:extLst>
              </a:tr>
              <a:tr h="273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889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1645070"/>
                  </a:ext>
                </a:extLst>
              </a:tr>
            </a:tbl>
          </a:graphicData>
        </a:graphic>
      </p:graphicFrame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5F5469F5-98F8-E93C-A208-E31E9B86509E}"/>
              </a:ext>
            </a:extLst>
          </p:cNvPr>
          <p:cNvSpPr txBox="1">
            <a:spLocks/>
          </p:cNvSpPr>
          <p:nvPr/>
        </p:nvSpPr>
        <p:spPr bwMode="auto">
          <a:xfrm>
            <a:off x="4272534" y="1750622"/>
            <a:ext cx="3942925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lang="es-ES_tradnl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71463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42927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14390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85854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C" b="1" dirty="0"/>
          </a:p>
          <a:p>
            <a:endParaRPr lang="es-EC" u="sng" dirty="0"/>
          </a:p>
          <a:p>
            <a:pPr algn="ctr"/>
            <a:r>
              <a:rPr lang="es-EC" u="sng" dirty="0"/>
              <a:t>Diagrama de barras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B4275978-1DAC-D620-A33C-799D38A65E9D}"/>
              </a:ext>
            </a:extLst>
          </p:cNvPr>
          <p:cNvSpPr txBox="1">
            <a:spLocks/>
          </p:cNvSpPr>
          <p:nvPr/>
        </p:nvSpPr>
        <p:spPr bwMode="auto">
          <a:xfrm>
            <a:off x="8242022" y="1732903"/>
            <a:ext cx="3942925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lang="es-ES_tradnl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71463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42927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14390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85854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C" b="1" dirty="0"/>
          </a:p>
          <a:p>
            <a:endParaRPr lang="es-EC" u="sng" dirty="0"/>
          </a:p>
          <a:p>
            <a:pPr algn="ctr"/>
            <a:r>
              <a:rPr lang="es-EC" u="sng" dirty="0"/>
              <a:t>Diagrama de pastel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17FD94-73C2-AE36-FFEF-7EB78708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359" y="3312445"/>
            <a:ext cx="3681029" cy="27376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D604A2-9EB4-E4FF-2250-BCDC01BC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34" y="3089757"/>
            <a:ext cx="3681029" cy="273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6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AB93-BBB6-2194-DA92-CFBCEA7C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DDCD9-BA1D-46E2-BE66-6FFF1962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Tablas</a:t>
            </a:r>
            <a:r>
              <a:rPr lang="en-GB" dirty="0"/>
              <a:t> y </a:t>
            </a:r>
            <a:r>
              <a:rPr lang="en-GB" dirty="0" err="1"/>
              <a:t>gráficos</a:t>
            </a:r>
            <a:endParaRPr lang="es-EC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6A6AFB-4F42-8506-9198-1645E7D7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3942925" cy="4755744"/>
          </a:xfrm>
        </p:spPr>
        <p:txBody>
          <a:bodyPr/>
          <a:lstStyle/>
          <a:p>
            <a:r>
              <a:rPr lang="es-EC" b="1" dirty="0"/>
              <a:t>Variables cuantitativas</a:t>
            </a:r>
          </a:p>
          <a:p>
            <a:endParaRPr lang="es-EC" u="sng" dirty="0"/>
          </a:p>
          <a:p>
            <a:pPr algn="ctr"/>
            <a:r>
              <a:rPr lang="es-EC" u="sng" dirty="0"/>
              <a:t>Tabla de frecuencia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69ED9A3-70E9-386F-0502-26244489A599}"/>
              </a:ext>
            </a:extLst>
          </p:cNvPr>
          <p:cNvSpPr txBox="1">
            <a:spLocks/>
          </p:cNvSpPr>
          <p:nvPr/>
        </p:nvSpPr>
        <p:spPr bwMode="auto">
          <a:xfrm>
            <a:off x="6895434" y="1626275"/>
            <a:ext cx="3942925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lang="es-ES_tradnl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71463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42927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14390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85854" indent="0" algn="just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C" b="1" dirty="0"/>
          </a:p>
          <a:p>
            <a:endParaRPr lang="es-EC" u="sng" dirty="0"/>
          </a:p>
          <a:p>
            <a:pPr algn="ctr"/>
            <a:r>
              <a:rPr lang="es-EC" u="sng" dirty="0"/>
              <a:t>Histograma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70ED11-3BE8-64E6-3B1E-E626FD0B5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34336"/>
              </p:ext>
            </p:extLst>
          </p:nvPr>
        </p:nvGraphicFramePr>
        <p:xfrm>
          <a:off x="799360" y="3353667"/>
          <a:ext cx="5186770" cy="3000203"/>
        </p:xfrm>
        <a:graphic>
          <a:graphicData uri="http://schemas.openxmlformats.org/drawingml/2006/table">
            <a:tbl>
              <a:tblPr firstRow="1" lastRow="1">
                <a:tableStyleId>{B301B821-A1FF-4177-AEE7-76D212191A09}</a:tableStyleId>
              </a:tblPr>
              <a:tblGrid>
                <a:gridCol w="1068371">
                  <a:extLst>
                    <a:ext uri="{9D8B030D-6E8A-4147-A177-3AD203B41FA5}">
                      <a16:colId xmlns:a16="http://schemas.microsoft.com/office/drawing/2014/main" val="2640379144"/>
                    </a:ext>
                  </a:extLst>
                </a:gridCol>
                <a:gridCol w="982212">
                  <a:extLst>
                    <a:ext uri="{9D8B030D-6E8A-4147-A177-3AD203B41FA5}">
                      <a16:colId xmlns:a16="http://schemas.microsoft.com/office/drawing/2014/main" val="2942596566"/>
                    </a:ext>
                  </a:extLst>
                </a:gridCol>
                <a:gridCol w="982212">
                  <a:extLst>
                    <a:ext uri="{9D8B030D-6E8A-4147-A177-3AD203B41FA5}">
                      <a16:colId xmlns:a16="http://schemas.microsoft.com/office/drawing/2014/main" val="2472174521"/>
                    </a:ext>
                  </a:extLst>
                </a:gridCol>
                <a:gridCol w="1085604">
                  <a:extLst>
                    <a:ext uri="{9D8B030D-6E8A-4147-A177-3AD203B41FA5}">
                      <a16:colId xmlns:a16="http://schemas.microsoft.com/office/drawing/2014/main" val="2507130461"/>
                    </a:ext>
                  </a:extLst>
                </a:gridCol>
                <a:gridCol w="1068371">
                  <a:extLst>
                    <a:ext uri="{9D8B030D-6E8A-4147-A177-3AD203B41FA5}">
                      <a16:colId xmlns:a16="http://schemas.microsoft.com/office/drawing/2014/main" val="3408163193"/>
                    </a:ext>
                  </a:extLst>
                </a:gridCol>
              </a:tblGrid>
              <a:tr h="7484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Intervalo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Frecuencia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Frecuencia Relativa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Frecuencia Acumulada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Frecuencia Acumulada Relativa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37895951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[0, 10)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0.090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0.090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6820583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[10, 20)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115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0.161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179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0.251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5911152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[20, 30)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230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0.322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409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0.573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980334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[30, 40)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155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0.217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564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0.790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8987097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[40, 50)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86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0.120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0.910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59346564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[50, 60)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42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0.059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692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0.969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31241949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[60, 70)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0.024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709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0.993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96416188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[70, 80)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0.007</a:t>
                      </a: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714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89605351"/>
                  </a:ext>
                </a:extLst>
              </a:tr>
              <a:tr h="2494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es-EC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714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21318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A239EB9-B713-4B1D-0191-E2519C8C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81" y="3353667"/>
            <a:ext cx="3681029" cy="273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88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344DE-50E7-4C5F-8964-C3C52416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Medidas</a:t>
            </a:r>
            <a:r>
              <a:rPr lang="en-GB" dirty="0"/>
              <a:t> de </a:t>
            </a:r>
            <a:r>
              <a:rPr lang="en-GB" dirty="0" err="1"/>
              <a:t>resumen</a:t>
            </a:r>
            <a:endParaRPr lang="es-EC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C08C972-F366-3A77-729A-9EEAA80DB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5860330" cy="4755744"/>
          </a:xfrm>
        </p:spPr>
        <p:txBody>
          <a:bodyPr/>
          <a:lstStyle/>
          <a:p>
            <a:r>
              <a:rPr lang="es-EC" b="1" dirty="0"/>
              <a:t>Variables cuantitativas</a:t>
            </a:r>
          </a:p>
          <a:p>
            <a:pPr algn="ctr"/>
            <a:r>
              <a:rPr lang="es-EC" u="sng" dirty="0"/>
              <a:t>Medidas de tendencia central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89E45C98-0003-6EDE-E714-B535C5FFD668}"/>
              </a:ext>
            </a:extLst>
          </p:cNvPr>
          <p:cNvSpPr txBox="1">
            <a:spLocks/>
          </p:cNvSpPr>
          <p:nvPr/>
        </p:nvSpPr>
        <p:spPr bwMode="auto">
          <a:xfrm>
            <a:off x="6247754" y="1746874"/>
            <a:ext cx="5860330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195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28659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00122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71586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C" u="sng" dirty="0"/>
              <a:t>Simetría vs Asimetría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35C387-5BCB-6659-78B2-7513D3EC4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6" y="2923954"/>
            <a:ext cx="6528554" cy="35824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B42542-24C2-F2BF-6FF8-EF987EE9E3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261"/>
          <a:stretch>
            <a:fillRect/>
          </a:stretch>
        </p:blipFill>
        <p:spPr>
          <a:xfrm>
            <a:off x="6734491" y="2355745"/>
            <a:ext cx="4733961" cy="20448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30E858-A7B5-2CBC-AC21-A0E1D8948F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89"/>
          <a:stretch>
            <a:fillRect/>
          </a:stretch>
        </p:blipFill>
        <p:spPr>
          <a:xfrm>
            <a:off x="7792965" y="4400550"/>
            <a:ext cx="2455048" cy="20448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1037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F9FC-97F3-8A23-6B7F-45C52A02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5429E-9098-9C54-10CA-C32BFFC3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Medidas</a:t>
            </a:r>
            <a:r>
              <a:rPr lang="en-GB" dirty="0"/>
              <a:t> de </a:t>
            </a:r>
            <a:r>
              <a:rPr lang="en-GB" dirty="0" err="1"/>
              <a:t>resumen</a:t>
            </a:r>
            <a:endParaRPr lang="es-EC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08593AB6-2229-34AE-181E-B23EA891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7578190" cy="4755744"/>
          </a:xfrm>
        </p:spPr>
        <p:txBody>
          <a:bodyPr/>
          <a:lstStyle/>
          <a:p>
            <a:r>
              <a:rPr lang="es-EC" b="1" dirty="0"/>
              <a:t>Variables cuantitativas</a:t>
            </a:r>
          </a:p>
          <a:p>
            <a:endParaRPr lang="es-EC" u="sng" dirty="0"/>
          </a:p>
          <a:p>
            <a:pPr algn="ctr"/>
            <a:r>
              <a:rPr lang="es-EC" u="sng" dirty="0"/>
              <a:t>Medidas de posición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Cuartiles: </a:t>
            </a:r>
            <a:r>
              <a:rPr lang="es-EC" dirty="0"/>
              <a:t>Divide los datos ordenados en 4 partes iguales, cada uno con el 25% de los datos. </a:t>
            </a:r>
            <a:r>
              <a:rPr lang="es-EC" b="1" dirty="0"/>
              <a:t>Q1, Q2, Q3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Quintiles: </a:t>
            </a:r>
            <a:r>
              <a:rPr lang="es-EC" dirty="0"/>
              <a:t>los datos ordenados en 5 partes iguales, cada uno con el 20% de los datos. </a:t>
            </a:r>
            <a:r>
              <a:rPr lang="es-EC" b="1" dirty="0"/>
              <a:t>K1, K2, K3, K4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Deciles: </a:t>
            </a:r>
            <a:r>
              <a:rPr lang="es-EC" dirty="0"/>
              <a:t>Divide los datos ordenados en 10 partes iguales, cada uno con el 10% de los datos. </a:t>
            </a:r>
            <a:r>
              <a:rPr lang="es-EC" b="1" dirty="0"/>
              <a:t>D1, D2, ..., D9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Percentiles: </a:t>
            </a:r>
            <a:r>
              <a:rPr lang="es-EC" dirty="0"/>
              <a:t>Divide los datos ordenados en 100 partes iguales, cada uno con el 1% de los datos. </a:t>
            </a:r>
            <a:r>
              <a:rPr lang="es-EC" b="1" dirty="0"/>
              <a:t>P1, P2, ..., P99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41FE4BF7-188D-C938-BDED-3B346E90E2FF}"/>
              </a:ext>
            </a:extLst>
          </p:cNvPr>
          <p:cNvSpPr txBox="1">
            <a:spLocks/>
          </p:cNvSpPr>
          <p:nvPr/>
        </p:nvSpPr>
        <p:spPr bwMode="auto">
          <a:xfrm>
            <a:off x="6650658" y="1527333"/>
            <a:ext cx="5860330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195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28659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00122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71586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C" u="sng" dirty="0"/>
          </a:p>
          <a:p>
            <a:endParaRPr lang="es-EC" u="sng" dirty="0"/>
          </a:p>
          <a:p>
            <a:pPr algn="ctr"/>
            <a:r>
              <a:rPr lang="es-EC" u="sng" dirty="0"/>
              <a:t>Diagramas de caja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910F55-638D-0BFF-54BA-4232707D3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860" y="3030273"/>
            <a:ext cx="4120828" cy="30647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2548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2810-E31C-E34F-0D0A-008F0B61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272C7-231A-3039-F649-0ECB12B1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Medidas</a:t>
            </a:r>
            <a:r>
              <a:rPr lang="en-GB" dirty="0"/>
              <a:t> de </a:t>
            </a:r>
            <a:r>
              <a:rPr lang="en-GB" dirty="0" err="1"/>
              <a:t>resumen</a:t>
            </a:r>
            <a:endParaRPr lang="es-EC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324671D0-D9DD-7A77-E260-A7843D770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5860330" cy="4755744"/>
          </a:xfrm>
        </p:spPr>
        <p:txBody>
          <a:bodyPr/>
          <a:lstStyle/>
          <a:p>
            <a:r>
              <a:rPr lang="es-EC" b="1" dirty="0"/>
              <a:t>Variables cuantitativas</a:t>
            </a:r>
          </a:p>
          <a:p>
            <a:endParaRPr lang="es-EC" u="sng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A2777CC3-0333-C9C8-58B9-29C767D3409C}"/>
              </a:ext>
            </a:extLst>
          </p:cNvPr>
          <p:cNvSpPr txBox="1">
            <a:spLocks/>
          </p:cNvSpPr>
          <p:nvPr/>
        </p:nvSpPr>
        <p:spPr bwMode="auto">
          <a:xfrm>
            <a:off x="2865456" y="1580502"/>
            <a:ext cx="5860330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195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28659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00122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71586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C" u="sng" dirty="0"/>
          </a:p>
          <a:p>
            <a:endParaRPr lang="es-EC" u="sng" dirty="0"/>
          </a:p>
          <a:p>
            <a:pPr algn="ctr"/>
            <a:r>
              <a:rPr lang="es-EC" u="sng" dirty="0"/>
              <a:t>Medidas de dispersión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7B7891-F819-8F4B-FB04-5D0DE023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77" y="3104708"/>
            <a:ext cx="8888818" cy="30048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799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0997-BE72-F0C2-CBB6-A2257DA0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A3C0B-05DA-A9ED-9189-0C797D55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Correlación</a:t>
            </a:r>
            <a:endParaRPr lang="es-EC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BC671190-FE0F-F7E9-4F9C-AFA7C5BF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50623"/>
            <a:ext cx="5860330" cy="4755744"/>
          </a:xfrm>
        </p:spPr>
        <p:txBody>
          <a:bodyPr/>
          <a:lstStyle/>
          <a:p>
            <a:r>
              <a:rPr lang="es-EC" b="1" dirty="0"/>
              <a:t>Variables cuantitativas</a:t>
            </a:r>
          </a:p>
          <a:p>
            <a:pPr algn="ctr"/>
            <a:r>
              <a:rPr lang="es-EC" u="sng" dirty="0"/>
              <a:t>Relación lineal moderada-fuerte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r>
              <a:rPr lang="es-EC" b="1" dirty="0"/>
              <a:t>Coeficiente de correlación (Pearson)= </a:t>
            </a:r>
            <a:r>
              <a:rPr lang="es-EC" dirty="0"/>
              <a:t>0.747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1CC763-AF2A-D052-DDBE-7A7D3201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97" y="2938456"/>
            <a:ext cx="3681029" cy="2737620"/>
          </a:xfrm>
          <a:prstGeom prst="rect">
            <a:avLst/>
          </a:prstGeom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EC7FD426-F41F-B80A-C41B-E2177970F787}"/>
              </a:ext>
            </a:extLst>
          </p:cNvPr>
          <p:cNvSpPr txBox="1">
            <a:spLocks/>
          </p:cNvSpPr>
          <p:nvPr/>
        </p:nvSpPr>
        <p:spPr bwMode="auto">
          <a:xfrm>
            <a:off x="5991445" y="1754162"/>
            <a:ext cx="5860330" cy="475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195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28659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00122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71586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dirty="0"/>
              <a:t>Variables cuantitativas</a:t>
            </a:r>
          </a:p>
          <a:p>
            <a:pPr algn="ctr"/>
            <a:r>
              <a:rPr lang="es-EC" u="sng" dirty="0"/>
              <a:t>Relación lineal débil</a:t>
            </a:r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endParaRPr lang="es-EC" b="1" dirty="0"/>
          </a:p>
          <a:p>
            <a:r>
              <a:rPr lang="es-EC" b="1" dirty="0"/>
              <a:t>Coeficiente de correlación (Pearson)= </a:t>
            </a:r>
            <a:r>
              <a:rPr lang="es-EC" dirty="0"/>
              <a:t>0.177</a:t>
            </a:r>
          </a:p>
          <a:p>
            <a:endParaRPr lang="es-EC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9BCE9-6372-BACE-307C-C123FE0EF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359" y="2857632"/>
            <a:ext cx="3681029" cy="27376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384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0964-C03D-3BDD-EFC9-C4F33037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7C52D-B8DF-031A-34ED-1902B9E0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Estadística </a:t>
            </a:r>
            <a:r>
              <a:rPr lang="en-GB" dirty="0" err="1"/>
              <a:t>Descriptiva</a:t>
            </a:r>
            <a:r>
              <a:rPr lang="en-GB" dirty="0"/>
              <a:t>: </a:t>
            </a:r>
            <a:r>
              <a:rPr lang="en-GB" dirty="0" err="1"/>
              <a:t>Correlación</a:t>
            </a:r>
            <a:endParaRPr lang="es-EC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0B98C4-6F79-4543-3CBF-C32A67596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590" y="1913857"/>
            <a:ext cx="6389127" cy="3485648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29567F08-A7C6-7095-2BB8-1E178F2C5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62" y="1988288"/>
            <a:ext cx="10875353" cy="510363"/>
          </a:xfrm>
        </p:spPr>
        <p:txBody>
          <a:bodyPr/>
          <a:lstStyle/>
          <a:p>
            <a:r>
              <a:rPr lang="es-EC" b="1" dirty="0"/>
              <a:t>Variables cuantitativas</a:t>
            </a:r>
          </a:p>
          <a:p>
            <a:pPr algn="ctr"/>
            <a:endParaRPr lang="es-EC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80E613-0C47-9482-7833-1C32E1120C76}"/>
              </a:ext>
            </a:extLst>
          </p:cNvPr>
          <p:cNvSpPr txBox="1">
            <a:spLocks/>
          </p:cNvSpPr>
          <p:nvPr/>
        </p:nvSpPr>
        <p:spPr bwMode="auto">
          <a:xfrm>
            <a:off x="331362" y="5507663"/>
            <a:ext cx="11757857" cy="1021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195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28659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00122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71586" indent="-185732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4305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13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977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440" indent="-185732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Char char="•"/>
              <a:defRPr sz="1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dirty="0"/>
              <a:t>Cuidado!: </a:t>
            </a:r>
            <a:r>
              <a:rPr lang="es-EC" dirty="0"/>
              <a:t>Coeficiente de Pearson mide relación lineal. Dos variables pueden estar altamente relacionadas de forma no lineal, pero Pearson dará un valor bajo. Siempre deben revisar los gráficos de dispersión.</a:t>
            </a:r>
            <a:endParaRPr lang="es-EC" b="1" dirty="0"/>
          </a:p>
          <a:p>
            <a:pPr algn="ctr"/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0251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344DE-50E7-4C5F-8964-C3C52416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25" y="928363"/>
            <a:ext cx="10263909" cy="1069975"/>
          </a:xfrm>
        </p:spPr>
        <p:txBody>
          <a:bodyPr anchor="ctr"/>
          <a:lstStyle/>
          <a:p>
            <a:r>
              <a:rPr lang="es-EC" sz="3200" dirty="0">
                <a:solidFill>
                  <a:srgbClr val="01548B"/>
                </a:solidFill>
                <a:latin typeface="+mn-lt"/>
              </a:rPr>
              <a:t>Actividad en clase: Estudio descriptivo de conjunto de datos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F5AC3-0804-E6F0-C6D2-4E9018B2A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33" y="1998338"/>
            <a:ext cx="4550220" cy="3197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1C8719-E6F4-32FE-C9C9-DFB6337E9827}"/>
              </a:ext>
            </a:extLst>
          </p:cNvPr>
          <p:cNvSpPr txBox="1"/>
          <p:nvPr/>
        </p:nvSpPr>
        <p:spPr>
          <a:xfrm>
            <a:off x="4993297" y="1779687"/>
            <a:ext cx="68750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Descripción</a:t>
            </a:r>
            <a:r>
              <a:rPr lang="en-GB" b="1" dirty="0"/>
              <a:t> de conjunto de </a:t>
            </a:r>
            <a:r>
              <a:rPr lang="en-GB" b="1" dirty="0" err="1"/>
              <a:t>datos</a:t>
            </a:r>
            <a:r>
              <a:rPr lang="en-GB" b="1" dirty="0"/>
              <a:t>: </a:t>
            </a:r>
          </a:p>
          <a:p>
            <a:r>
              <a:rPr lang="es-EC" dirty="0"/>
              <a:t>El conjunto de datos incluye observaciones de 654 niños a los que se les mide el Volumen Espiratorio Forzado (FEV: </a:t>
            </a:r>
            <a:r>
              <a:rPr lang="es-EC" dirty="0" err="1"/>
              <a:t>forced</a:t>
            </a:r>
            <a:r>
              <a:rPr lang="es-EC" dirty="0"/>
              <a:t> </a:t>
            </a:r>
            <a:r>
              <a:rPr lang="es-EC" dirty="0" err="1"/>
              <a:t>expiratory</a:t>
            </a:r>
            <a:r>
              <a:rPr lang="es-EC" dirty="0"/>
              <a:t> </a:t>
            </a:r>
            <a:r>
              <a:rPr lang="es-EC" dirty="0" err="1"/>
              <a:t>volume</a:t>
            </a:r>
            <a:r>
              <a:rPr lang="es-EC" dirty="0"/>
              <a:t>), expresado en litros. Se registra además la edad, altura, género (1=hombre, 0=mujer), si los padres fuman (1=sí, 0=no).</a:t>
            </a:r>
          </a:p>
          <a:p>
            <a:endParaRPr lang="es-EC" dirty="0"/>
          </a:p>
          <a:p>
            <a:r>
              <a:rPr lang="es-EC" b="1" dirty="0"/>
              <a:t>Preguntas: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¿Cuál es la población de estudio?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¿Cuál es el tamaño de la muestra?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Clasifique cada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¿Qué gráfico se puede usar para resumir la variable edad? Y ¿para la variable “</a:t>
            </a:r>
            <a:r>
              <a:rPr lang="es-EC" dirty="0" err="1"/>
              <a:t>smoke</a:t>
            </a:r>
            <a:r>
              <a:rPr lang="es-EC" dirty="0"/>
              <a:t>”?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Para resumir gráficamente la variable edad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Interprete las siguientes medidas:</a:t>
            </a:r>
          </a:p>
          <a:p>
            <a:pPr marL="688075" lvl="1" indent="-285750">
              <a:buFont typeface="Arial" panose="020B0604020202020204" pitchFamily="34" charset="0"/>
              <a:buChar char="•"/>
            </a:pPr>
            <a:r>
              <a:rPr lang="es-EC" dirty="0"/>
              <a:t>Media de FEV </a:t>
            </a:r>
            <a:r>
              <a:rPr lang="en-GB" dirty="0"/>
              <a:t>= 2.63  y </a:t>
            </a:r>
            <a:r>
              <a:rPr lang="en-GB" dirty="0" err="1"/>
              <a:t>mediana</a:t>
            </a:r>
            <a:r>
              <a:rPr lang="en-GB" dirty="0"/>
              <a:t> de FEV = 2.55</a:t>
            </a:r>
          </a:p>
          <a:p>
            <a:pPr marL="688075" lvl="1" indent="-285750">
              <a:buFont typeface="Arial" panose="020B0604020202020204" pitchFamily="34" charset="0"/>
              <a:buChar char="•"/>
            </a:pPr>
            <a:r>
              <a:rPr lang="en-GB" dirty="0"/>
              <a:t>Q1 de FEV: 1.98</a:t>
            </a:r>
          </a:p>
          <a:p>
            <a:pPr marL="688075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Desviación</a:t>
            </a:r>
            <a:r>
              <a:rPr lang="en-GB" dirty="0"/>
              <a:t> </a:t>
            </a:r>
            <a:r>
              <a:rPr lang="en-GB" dirty="0" err="1"/>
              <a:t>estándar</a:t>
            </a:r>
            <a:r>
              <a:rPr lang="en-GB" dirty="0"/>
              <a:t> de FEV: 0.87</a:t>
            </a:r>
            <a:endParaRPr lang="es-EC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C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385F9-61B3-ADA0-ACC2-C9F98DAE9B7A}"/>
              </a:ext>
            </a:extLst>
          </p:cNvPr>
          <p:cNvSpPr txBox="1"/>
          <p:nvPr/>
        </p:nvSpPr>
        <p:spPr>
          <a:xfrm>
            <a:off x="81569" y="5803883"/>
            <a:ext cx="61190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>
                <a:hlinkClick r:id="rId4"/>
              </a:rPr>
              <a:t>https://padlet.com/andreagarciaangulo/uteg-sesion1-actividad-3sdq8d9qvtxlapt2</a:t>
            </a:r>
            <a:endParaRPr lang="es-EC" dirty="0"/>
          </a:p>
          <a:p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8408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344DE-50E7-4C5F-8964-C3C52416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1.2 </a:t>
            </a:r>
            <a:r>
              <a:rPr lang="es-EC" dirty="0"/>
              <a:t>Obtención y limpieza de datos </a:t>
            </a:r>
            <a:endParaRPr lang="es-MX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5DE16-EA07-A0D2-77E3-99A5BBC0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68" y="2008948"/>
            <a:ext cx="7853971" cy="42110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4488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FBFB-C7C7-C9F3-1603-BB244941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4A71D-832C-87D4-62EE-750C9282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¿Qué es un conjunto de datos?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B24EDA-DA88-1DB4-F8F2-C1C8F04A7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633657"/>
              </p:ext>
            </p:extLst>
          </p:nvPr>
        </p:nvGraphicFramePr>
        <p:xfrm>
          <a:off x="2838891" y="2008145"/>
          <a:ext cx="8814390" cy="36799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881439">
                  <a:extLst>
                    <a:ext uri="{9D8B030D-6E8A-4147-A177-3AD203B41FA5}">
                      <a16:colId xmlns:a16="http://schemas.microsoft.com/office/drawing/2014/main" val="37999447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3290855301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2060810530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400225339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3831228362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3103642156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189168830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4055458359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2987400193"/>
                    </a:ext>
                  </a:extLst>
                </a:gridCol>
                <a:gridCol w="881439">
                  <a:extLst>
                    <a:ext uri="{9D8B030D-6E8A-4147-A177-3AD203B41FA5}">
                      <a16:colId xmlns:a16="http://schemas.microsoft.com/office/drawing/2014/main" val="592439757"/>
                    </a:ext>
                  </a:extLst>
                </a:gridCol>
              </a:tblGrid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PassengerId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Survived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Pclass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Sex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SibSp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Parch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Fare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Cabin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Embarked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17461069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7.25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73319976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71.2833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C85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29094855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7.925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7916341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53.1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C123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5804323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8.05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94214957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NA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8.4583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Q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18613590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51.8625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E46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980557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21.075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66530533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11.1333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84639029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30.0708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5528658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16.7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G6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16085314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26.55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C103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8951370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8.05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26141150"/>
                  </a:ext>
                </a:extLst>
              </a:tr>
              <a:tr h="1423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31.275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419386"/>
                  </a:ext>
                </a:extLst>
              </a:tr>
              <a:tr h="230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7.8542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07869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69FF13-E572-9209-4C4D-7017C0307016}"/>
              </a:ext>
            </a:extLst>
          </p:cNvPr>
          <p:cNvSpPr txBox="1"/>
          <p:nvPr/>
        </p:nvSpPr>
        <p:spPr>
          <a:xfrm>
            <a:off x="235670" y="1998313"/>
            <a:ext cx="2241716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 err="1"/>
              <a:t>Actividad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clase</a:t>
            </a:r>
            <a:r>
              <a:rPr lang="en-GB" b="1" dirty="0"/>
              <a:t>:</a:t>
            </a:r>
          </a:p>
          <a:p>
            <a:endParaRPr lang="en-GB" dirty="0"/>
          </a:p>
          <a:p>
            <a:r>
              <a:rPr lang="en-GB" dirty="0" err="1"/>
              <a:t>Identificar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conjunto de </a:t>
            </a:r>
            <a:r>
              <a:rPr lang="en-GB" dirty="0" err="1"/>
              <a:t>datos</a:t>
            </a:r>
            <a:r>
              <a:rPr lang="en-GB" dirty="0"/>
              <a:t> “Titanic”, </a:t>
            </a:r>
            <a:r>
              <a:rPr lang="en-GB" dirty="0" err="1"/>
              <a:t>problemas</a:t>
            </a:r>
            <a:r>
              <a:rPr lang="en-GB" dirty="0"/>
              <a:t> de </a:t>
            </a:r>
            <a:r>
              <a:rPr lang="en-GB" dirty="0" err="1"/>
              <a:t>consistencia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datos</a:t>
            </a:r>
            <a:r>
              <a:rPr lang="en-GB" dirty="0"/>
              <a:t>.</a:t>
            </a:r>
          </a:p>
          <a:p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7127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1035-1ACB-1D1E-8E50-628BB1A1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4C8EF-5B85-3D98-E410-DAFB9355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77" y="1039112"/>
            <a:ext cx="11298462" cy="969836"/>
          </a:xfrm>
        </p:spPr>
        <p:txBody>
          <a:bodyPr/>
          <a:lstStyle/>
          <a:p>
            <a:r>
              <a:rPr lang="es-MX" dirty="0"/>
              <a:t>1.3 </a:t>
            </a:r>
            <a:r>
              <a:rPr lang="es-EC" dirty="0"/>
              <a:t>Uso del lenguaje estadístico R para procesamiento y análisis descriptivo de datos 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EA433-F266-0F76-D022-C46D812AC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9" y="2408358"/>
            <a:ext cx="2898556" cy="2320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46C2C5-59D0-2501-BCDE-9F9F1392BA1F}"/>
              </a:ext>
            </a:extLst>
          </p:cNvPr>
          <p:cNvSpPr txBox="1"/>
          <p:nvPr/>
        </p:nvSpPr>
        <p:spPr>
          <a:xfrm>
            <a:off x="321177" y="5818888"/>
            <a:ext cx="5906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Link del material:</a:t>
            </a:r>
          </a:p>
          <a:p>
            <a:r>
              <a:rPr lang="es-EC" dirty="0">
                <a:hlinkClick r:id="rId4"/>
              </a:rPr>
              <a:t>https://github.com/acgarciaa/UTEG-Metodos-Estadisticos.git</a:t>
            </a:r>
            <a:endParaRPr lang="es-EC" dirty="0"/>
          </a:p>
          <a:p>
            <a:endParaRPr lang="es-EC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38A08-D7BA-990A-2CB6-022580A1B69C}"/>
              </a:ext>
            </a:extLst>
          </p:cNvPr>
          <p:cNvSpPr txBox="1"/>
          <p:nvPr/>
        </p:nvSpPr>
        <p:spPr>
          <a:xfrm>
            <a:off x="0" y="4881081"/>
            <a:ext cx="351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Software </a:t>
            </a:r>
            <a:r>
              <a:rPr lang="en-GB" dirty="0" err="1"/>
              <a:t>Estadístico</a:t>
            </a:r>
            <a:endParaRPr lang="es-EC" dirty="0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22DAE50B-3FD1-318C-8011-3B3B42F66B74}"/>
              </a:ext>
            </a:extLst>
          </p:cNvPr>
          <p:cNvSpPr/>
          <p:nvPr/>
        </p:nvSpPr>
        <p:spPr>
          <a:xfrm>
            <a:off x="7780682" y="3170271"/>
            <a:ext cx="987973" cy="98797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DB37B4-DF86-06C0-32A4-7E24A4461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530" y="2983221"/>
            <a:ext cx="3181350" cy="1362075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1B23D7AB-716E-9F63-8791-20F1388A8DB9}"/>
              </a:ext>
            </a:extLst>
          </p:cNvPr>
          <p:cNvSpPr/>
          <p:nvPr/>
        </p:nvSpPr>
        <p:spPr>
          <a:xfrm>
            <a:off x="3154156" y="3245785"/>
            <a:ext cx="987973" cy="98797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F68EB-D635-C375-30E1-230DC441336E}"/>
              </a:ext>
            </a:extLst>
          </p:cNvPr>
          <p:cNvSpPr txBox="1"/>
          <p:nvPr/>
        </p:nvSpPr>
        <p:spPr>
          <a:xfrm>
            <a:off x="4226609" y="4755891"/>
            <a:ext cx="3516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dirty="0"/>
              <a:t>Entorno de desarrollo integrado (IDE)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C87E9C-C5F5-BA86-0C32-8B99AEF3CA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074" y="2625903"/>
            <a:ext cx="1968711" cy="18452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EAAB23-FCD8-885F-DA4D-6A40EB14109B}"/>
              </a:ext>
            </a:extLst>
          </p:cNvPr>
          <p:cNvSpPr txBox="1"/>
          <p:nvPr/>
        </p:nvSpPr>
        <p:spPr>
          <a:xfrm>
            <a:off x="8303173" y="4724557"/>
            <a:ext cx="351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Plataforma </a:t>
            </a:r>
            <a:r>
              <a:rPr lang="en-GB" dirty="0" err="1"/>
              <a:t>colaborativa</a:t>
            </a:r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769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88D35-AD31-2EF3-06C4-39C16A83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">
            <a:extLst>
              <a:ext uri="{FF2B5EF4-FFF2-40B4-BE49-F238E27FC236}">
                <a16:creationId xmlns:a16="http://schemas.microsoft.com/office/drawing/2014/main" id="{A5251AA8-6449-CA8A-CAD7-2284390BDA2B}"/>
              </a:ext>
            </a:extLst>
          </p:cNvPr>
          <p:cNvSpPr/>
          <p:nvPr/>
        </p:nvSpPr>
        <p:spPr bwMode="auto">
          <a:xfrm>
            <a:off x="443077" y="1039112"/>
            <a:ext cx="4430769" cy="106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0B538B"/>
                </a:solidFill>
                <a:latin typeface="+mn-lt"/>
              </a:rPr>
              <a:t>R Studio</a:t>
            </a:r>
          </a:p>
        </p:txBody>
      </p:sp>
      <p:pic>
        <p:nvPicPr>
          <p:cNvPr id="14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490E23-A9C1-B4FF-A812-6AAA1DA34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4" r="3" b="3"/>
          <a:stretch>
            <a:fillRect/>
          </a:stretch>
        </p:blipFill>
        <p:spPr bwMode="auto">
          <a:xfrm>
            <a:off x="5095385" y="1200576"/>
            <a:ext cx="6646154" cy="511163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9ED5261-CE62-394A-5B75-499D16471B78}"/>
              </a:ext>
            </a:extLst>
          </p:cNvPr>
          <p:cNvSpPr txBox="1">
            <a:spLocks/>
          </p:cNvSpPr>
          <p:nvPr/>
        </p:nvSpPr>
        <p:spPr bwMode="auto">
          <a:xfrm>
            <a:off x="443077" y="2155111"/>
            <a:ext cx="4430769" cy="431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812"/>
              </a:spcBef>
              <a:spcAft>
                <a:spcPct val="0"/>
              </a:spcAft>
              <a:buFont typeface="Arial" panose="020B0604020202020204" pitchFamily="34" charset="0"/>
              <a:buNone/>
              <a:defRPr sz="1950" b="1" kern="1200">
                <a:solidFill>
                  <a:srgbClr val="0B538B"/>
                </a:solidFill>
                <a:latin typeface="+mn-lt"/>
                <a:ea typeface="+mn-ea"/>
                <a:cs typeface="+mn-cs"/>
              </a:defRPr>
            </a:lvl1pPr>
            <a:lvl2pPr marL="371464" indent="0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62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42927" indent="0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462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14391" indent="0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85854" indent="0" algn="l" rtl="0" eaLnBrk="1" fontAlgn="base" hangingPunct="1">
              <a:lnSpc>
                <a:spcPct val="90000"/>
              </a:lnSpc>
              <a:spcBef>
                <a:spcPts val="406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57318" indent="0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None/>
              <a:defRPr sz="1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81" indent="0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None/>
              <a:defRPr sz="1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0245" indent="0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None/>
              <a:defRPr sz="1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71709" indent="0" algn="l" defTabSz="742927" rtl="0" eaLnBrk="1" latinLnBrk="0" hangingPunct="1">
              <a:lnSpc>
                <a:spcPct val="90000"/>
              </a:lnSpc>
              <a:spcBef>
                <a:spcPts val="406"/>
              </a:spcBef>
              <a:buFont typeface="Arial"/>
              <a:buNone/>
              <a:defRPr sz="1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2400" kern="1200" dirty="0">
              <a:latin typeface="+mn-lt"/>
              <a:ea typeface="+mn-ea"/>
              <a:cs typeface="+mn-cs"/>
            </a:endParaRPr>
          </a:p>
          <a:p>
            <a:r>
              <a:rPr lang="es-ES" sz="2400" kern="1200" dirty="0">
                <a:latin typeface="+mn-lt"/>
                <a:ea typeface="+mn-ea"/>
                <a:cs typeface="+mn-cs"/>
              </a:rPr>
              <a:t>4 ventanas:</a:t>
            </a:r>
          </a:p>
          <a:p>
            <a:r>
              <a:rPr lang="es-E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Script</a:t>
            </a:r>
          </a:p>
          <a:p>
            <a:r>
              <a:rPr lang="es-E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Consola (R)</a:t>
            </a:r>
          </a:p>
          <a:p>
            <a:r>
              <a:rPr lang="es-E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Entorno</a:t>
            </a:r>
          </a:p>
          <a:p>
            <a:r>
              <a:rPr lang="es-E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Extras (Navegación, </a:t>
            </a:r>
            <a:r>
              <a:rPr lang="es-ES" sz="24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Gráficos,Librerías</a:t>
            </a:r>
            <a:r>
              <a:rPr lang="es-E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Ayuda)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790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3C7F-7050-144B-ED30-E13D1CCC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E031983-805C-A082-7C11-8A90ADD459FC}"/>
              </a:ext>
            </a:extLst>
          </p:cNvPr>
          <p:cNvSpPr/>
          <p:nvPr/>
        </p:nvSpPr>
        <p:spPr>
          <a:xfrm>
            <a:off x="351703" y="1148315"/>
            <a:ext cx="872836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Estructura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de Datos: Data Frame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399D2-12AC-ABE3-EA2E-1A7C596EA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50" y="2171275"/>
            <a:ext cx="5059417" cy="3762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36335C-5D73-EBDC-0182-279E1E8FA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970" y="1898147"/>
            <a:ext cx="6259878" cy="2003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49BF04-6C0B-3205-4BFF-6A510DCF1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473" y="4561286"/>
            <a:ext cx="1152214" cy="264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57D00-0BF7-E169-3443-8A52A5F76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970" y="3779476"/>
            <a:ext cx="6259878" cy="655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DB60B3-3F2B-9065-C73D-30938243F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0473" y="4937646"/>
            <a:ext cx="3550356" cy="13791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193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20E7-41C8-45FE-42C4-C21732EB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DAEA05-063A-757C-F5F0-D1429746F3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21"/>
          <a:stretch>
            <a:fillRect/>
          </a:stretch>
        </p:blipFill>
        <p:spPr>
          <a:xfrm>
            <a:off x="1332675" y="1224305"/>
            <a:ext cx="9070109" cy="48202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3069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F594-0FD3-1CB2-B4C2-2EE9FF56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99BBE85-7EB6-A070-B2AD-60E660FB8E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6123580"/>
              </p:ext>
            </p:extLst>
          </p:nvPr>
        </p:nvGraphicFramePr>
        <p:xfrm>
          <a:off x="638679" y="2339439"/>
          <a:ext cx="5453364" cy="2826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E5EC067-ECC4-289E-0709-C26199AEB8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675" y="4108554"/>
            <a:ext cx="4856390" cy="7205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ED4542-B4D0-A101-9D33-A6F7D7FCC6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6670" y="2423522"/>
            <a:ext cx="5691159" cy="1216334"/>
          </a:xfrm>
          <a:prstGeom prst="rect">
            <a:avLst/>
          </a:prstGeom>
        </p:spPr>
      </p:pic>
      <p:sp>
        <p:nvSpPr>
          <p:cNvPr id="5" name="Rectángulo 1">
            <a:extLst>
              <a:ext uri="{FF2B5EF4-FFF2-40B4-BE49-F238E27FC236}">
                <a16:creationId xmlns:a16="http://schemas.microsoft.com/office/drawing/2014/main" id="{4AC97561-70F4-E9D5-2A19-F1CBEA1071D2}"/>
              </a:ext>
            </a:extLst>
          </p:cNvPr>
          <p:cNvSpPr/>
          <p:nvPr/>
        </p:nvSpPr>
        <p:spPr>
          <a:xfrm>
            <a:off x="351703" y="1148315"/>
            <a:ext cx="872836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Estructura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de Datos: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Clases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1095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F88A-2507-817B-F723-F5BF2EBD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161F829-95A1-9924-591D-23B6AE45C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8381060"/>
              </p:ext>
            </p:extLst>
          </p:nvPr>
        </p:nvGraphicFramePr>
        <p:xfrm>
          <a:off x="770759" y="2238705"/>
          <a:ext cx="4610538" cy="4014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96E556B-A59C-DA40-F667-271CF30FE6B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730"/>
          <a:stretch>
            <a:fillRect/>
          </a:stretch>
        </p:blipFill>
        <p:spPr>
          <a:xfrm>
            <a:off x="5596489" y="2500370"/>
            <a:ext cx="6437855" cy="3491618"/>
          </a:xfrm>
          <a:prstGeom prst="rect">
            <a:avLst/>
          </a:prstGeom>
        </p:spPr>
      </p:pic>
      <p:sp>
        <p:nvSpPr>
          <p:cNvPr id="4" name="Rectángulo 1">
            <a:extLst>
              <a:ext uri="{FF2B5EF4-FFF2-40B4-BE49-F238E27FC236}">
                <a16:creationId xmlns:a16="http://schemas.microsoft.com/office/drawing/2014/main" id="{7BCCF548-AB29-A6B5-C0DD-2985A4C9FDD7}"/>
              </a:ext>
            </a:extLst>
          </p:cNvPr>
          <p:cNvSpPr/>
          <p:nvPr/>
        </p:nvSpPr>
        <p:spPr>
          <a:xfrm>
            <a:off x="351702" y="1148315"/>
            <a:ext cx="1032338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procesamiento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dplyr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3622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E6A3-7721-9279-495B-781600CA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B82E65-B6B7-D7EE-285C-98AB95241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51" y="2235551"/>
            <a:ext cx="4508266" cy="40039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E91099-F591-8FB1-A0BC-BBFF5360AE4B}"/>
              </a:ext>
            </a:extLst>
          </p:cNvPr>
          <p:cNvSpPr txBox="1"/>
          <p:nvPr/>
        </p:nvSpPr>
        <p:spPr>
          <a:xfrm>
            <a:off x="6800193" y="2701159"/>
            <a:ext cx="3773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summary(): Estadística </a:t>
            </a:r>
            <a:r>
              <a:rPr lang="en-GB" b="1" dirty="0" err="1"/>
              <a:t>descriptiva</a:t>
            </a:r>
            <a:r>
              <a:rPr lang="en-GB" b="1" dirty="0"/>
              <a:t> de </a:t>
            </a:r>
            <a:r>
              <a:rPr lang="en-GB" b="1" dirty="0" err="1"/>
              <a:t>cada</a:t>
            </a:r>
            <a:r>
              <a:rPr lang="en-GB" b="1" dirty="0"/>
              <a:t> variable del conjunto de </a:t>
            </a:r>
            <a:r>
              <a:rPr lang="en-GB" b="1" dirty="0" err="1"/>
              <a:t>datos</a:t>
            </a:r>
            <a:r>
              <a:rPr lang="en-GB" b="1" dirty="0"/>
              <a:t> </a:t>
            </a:r>
            <a:r>
              <a:rPr lang="en-GB" b="1" dirty="0" err="1"/>
              <a:t>según</a:t>
            </a:r>
            <a:r>
              <a:rPr lang="en-GB" b="1" dirty="0"/>
              <a:t> </a:t>
            </a:r>
            <a:r>
              <a:rPr lang="en-GB" b="1" dirty="0" err="1"/>
              <a:t>su</a:t>
            </a:r>
            <a:r>
              <a:rPr lang="en-GB" b="1" dirty="0"/>
              <a:t> </a:t>
            </a:r>
            <a:r>
              <a:rPr lang="en-GB" b="1" dirty="0" err="1"/>
              <a:t>tipo</a:t>
            </a:r>
            <a:r>
              <a:rPr lang="en-GB" b="1" dirty="0"/>
              <a:t>:</a:t>
            </a:r>
          </a:p>
          <a:p>
            <a:endParaRPr lang="en-GB" dirty="0"/>
          </a:p>
          <a:p>
            <a:r>
              <a:rPr lang="en-GB" dirty="0" err="1"/>
              <a:t>Numéricas</a:t>
            </a:r>
            <a:r>
              <a:rPr lang="en-GB" dirty="0"/>
              <a:t>: </a:t>
            </a:r>
            <a:r>
              <a:rPr lang="en-GB" dirty="0" err="1"/>
              <a:t>Mínimo</a:t>
            </a:r>
            <a:r>
              <a:rPr lang="en-GB" dirty="0"/>
              <a:t>, Media, </a:t>
            </a:r>
            <a:r>
              <a:rPr lang="en-GB" dirty="0" err="1"/>
              <a:t>Cuartiles</a:t>
            </a:r>
            <a:r>
              <a:rPr lang="en-GB" dirty="0"/>
              <a:t>, Máximo</a:t>
            </a:r>
          </a:p>
          <a:p>
            <a:endParaRPr lang="en-GB" dirty="0"/>
          </a:p>
          <a:p>
            <a:r>
              <a:rPr lang="en-GB" dirty="0" err="1"/>
              <a:t>Categóricas</a:t>
            </a:r>
            <a:r>
              <a:rPr lang="en-GB" dirty="0"/>
              <a:t>: Clase, </a:t>
            </a:r>
            <a:r>
              <a:rPr lang="en-GB" dirty="0" err="1"/>
              <a:t>frecuencia</a:t>
            </a:r>
            <a:endParaRPr lang="en-GB" dirty="0"/>
          </a:p>
          <a:p>
            <a:endParaRPr lang="en-GB" dirty="0"/>
          </a:p>
          <a:p>
            <a:endParaRPr lang="es-EC" dirty="0"/>
          </a:p>
        </p:txBody>
      </p:sp>
      <p:sp>
        <p:nvSpPr>
          <p:cNvPr id="4" name="Rectángulo 1">
            <a:extLst>
              <a:ext uri="{FF2B5EF4-FFF2-40B4-BE49-F238E27FC236}">
                <a16:creationId xmlns:a16="http://schemas.microsoft.com/office/drawing/2014/main" id="{102E1D73-E25C-74EF-4E5D-48EA8EBD46F5}"/>
              </a:ext>
            </a:extLst>
          </p:cNvPr>
          <p:cNvSpPr/>
          <p:nvPr/>
        </p:nvSpPr>
        <p:spPr>
          <a:xfrm>
            <a:off x="351702" y="1148315"/>
            <a:ext cx="1032338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estadística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descriptiva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641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A1FA-82E9-D15C-7B5E-35D9CFC7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691C21-A371-A85A-E65D-1D0A4AC94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3" y="3251620"/>
            <a:ext cx="10838213" cy="23229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F9BD5B-2EF1-0D5C-B748-56E5D1BFEF83}"/>
              </a:ext>
            </a:extLst>
          </p:cNvPr>
          <p:cNvSpPr txBox="1"/>
          <p:nvPr/>
        </p:nvSpPr>
        <p:spPr>
          <a:xfrm>
            <a:off x="777101" y="2519139"/>
            <a:ext cx="807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summarize: </a:t>
            </a:r>
            <a:r>
              <a:rPr lang="en-GB" b="1" dirty="0" err="1"/>
              <a:t>permite</a:t>
            </a:r>
            <a:r>
              <a:rPr lang="en-GB" b="1" dirty="0"/>
              <a:t> </a:t>
            </a:r>
            <a:r>
              <a:rPr lang="en-GB" b="1" dirty="0" err="1"/>
              <a:t>personalizar</a:t>
            </a:r>
            <a:r>
              <a:rPr lang="en-GB" b="1" dirty="0"/>
              <a:t> la </a:t>
            </a:r>
            <a:r>
              <a:rPr lang="en-GB" b="1" dirty="0" err="1"/>
              <a:t>estadística</a:t>
            </a:r>
            <a:r>
              <a:rPr lang="en-GB" b="1" dirty="0"/>
              <a:t> </a:t>
            </a:r>
            <a:r>
              <a:rPr lang="en-GB" b="1" dirty="0" err="1"/>
              <a:t>descriptiva</a:t>
            </a:r>
            <a:endParaRPr lang="es-EC" b="1" dirty="0"/>
          </a:p>
        </p:txBody>
      </p:sp>
      <p:sp>
        <p:nvSpPr>
          <p:cNvPr id="4" name="Rectángulo 1">
            <a:extLst>
              <a:ext uri="{FF2B5EF4-FFF2-40B4-BE49-F238E27FC236}">
                <a16:creationId xmlns:a16="http://schemas.microsoft.com/office/drawing/2014/main" id="{EDCB65E4-33E2-0F29-1041-50DAB51AA50E}"/>
              </a:ext>
            </a:extLst>
          </p:cNvPr>
          <p:cNvSpPr/>
          <p:nvPr/>
        </p:nvSpPr>
        <p:spPr>
          <a:xfrm>
            <a:off x="351702" y="1148315"/>
            <a:ext cx="1032338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estadística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descriptiva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6779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2613-A9F0-3B50-AB55-C9C1DD9F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">
            <a:extLst>
              <a:ext uri="{FF2B5EF4-FFF2-40B4-BE49-F238E27FC236}">
                <a16:creationId xmlns:a16="http://schemas.microsoft.com/office/drawing/2014/main" id="{41D1C668-2A10-84D8-2359-E0FBF3432A39}"/>
              </a:ext>
            </a:extLst>
          </p:cNvPr>
          <p:cNvSpPr/>
          <p:nvPr/>
        </p:nvSpPr>
        <p:spPr>
          <a:xfrm>
            <a:off x="351702" y="1148315"/>
            <a:ext cx="1032338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estadística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descriptiva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4F447-69D0-C418-3030-C265B4FFE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12" y="1953453"/>
            <a:ext cx="4770132" cy="3873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0A713-49F6-2D95-240F-93C08E37CF7E}"/>
              </a:ext>
            </a:extLst>
          </p:cNvPr>
          <p:cNvSpPr txBox="1"/>
          <p:nvPr/>
        </p:nvSpPr>
        <p:spPr>
          <a:xfrm>
            <a:off x="5905654" y="1938416"/>
            <a:ext cx="55067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ggpairs</a:t>
            </a:r>
            <a:r>
              <a:rPr lang="en-GB" b="1" dirty="0"/>
              <a:t>(): </a:t>
            </a:r>
            <a:r>
              <a:rPr lang="en-GB" b="1" dirty="0" err="1"/>
              <a:t>Gráficos</a:t>
            </a:r>
            <a:r>
              <a:rPr lang="en-GB" b="1" dirty="0"/>
              <a:t> de </a:t>
            </a:r>
            <a:r>
              <a:rPr lang="en-GB" b="1" dirty="0" err="1"/>
              <a:t>cada</a:t>
            </a:r>
            <a:r>
              <a:rPr lang="en-GB" b="1" dirty="0"/>
              <a:t> variable y </a:t>
            </a:r>
            <a:r>
              <a:rPr lang="en-GB" b="1" dirty="0" err="1"/>
              <a:t>cada</a:t>
            </a:r>
            <a:r>
              <a:rPr lang="en-GB" b="1" dirty="0"/>
              <a:t> par de variables del conjunto de </a:t>
            </a:r>
            <a:r>
              <a:rPr lang="en-GB" b="1" dirty="0" err="1"/>
              <a:t>datos</a:t>
            </a:r>
            <a:r>
              <a:rPr lang="en-GB" b="1" dirty="0"/>
              <a:t> </a:t>
            </a:r>
            <a:r>
              <a:rPr lang="en-GB" b="1" dirty="0" err="1"/>
              <a:t>según</a:t>
            </a:r>
            <a:r>
              <a:rPr lang="en-GB" b="1" dirty="0"/>
              <a:t> </a:t>
            </a:r>
            <a:r>
              <a:rPr lang="en-GB" b="1" dirty="0" err="1"/>
              <a:t>su</a:t>
            </a:r>
            <a:r>
              <a:rPr lang="en-GB" b="1" dirty="0"/>
              <a:t> </a:t>
            </a:r>
            <a:r>
              <a:rPr lang="en-GB" b="1" dirty="0" err="1"/>
              <a:t>tipo</a:t>
            </a:r>
            <a:r>
              <a:rPr lang="en-GB" b="1" dirty="0"/>
              <a:t>:</a:t>
            </a:r>
          </a:p>
          <a:p>
            <a:endParaRPr lang="en-GB" dirty="0"/>
          </a:p>
          <a:p>
            <a:r>
              <a:rPr lang="en-GB" dirty="0" err="1"/>
              <a:t>Numérica</a:t>
            </a:r>
            <a:r>
              <a:rPr lang="en-GB" dirty="0"/>
              <a:t>: </a:t>
            </a:r>
            <a:r>
              <a:rPr lang="en-GB" dirty="0" err="1"/>
              <a:t>Densidad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Categórica</a:t>
            </a:r>
            <a:r>
              <a:rPr lang="en-GB" dirty="0"/>
              <a:t>: </a:t>
            </a:r>
            <a:r>
              <a:rPr lang="en-GB" dirty="0" err="1"/>
              <a:t>Diagrama</a:t>
            </a:r>
            <a:r>
              <a:rPr lang="en-GB" dirty="0"/>
              <a:t> de barras</a:t>
            </a:r>
          </a:p>
          <a:p>
            <a:endParaRPr lang="en-GB" dirty="0"/>
          </a:p>
          <a:p>
            <a:r>
              <a:rPr lang="en-GB" dirty="0" err="1"/>
              <a:t>Numéricas</a:t>
            </a:r>
            <a:r>
              <a:rPr lang="en-GB" dirty="0"/>
              <a:t> vs </a:t>
            </a:r>
            <a:r>
              <a:rPr lang="en-GB" dirty="0" err="1"/>
              <a:t>Numéricas</a:t>
            </a:r>
            <a:r>
              <a:rPr lang="en-GB" dirty="0"/>
              <a:t>: </a:t>
            </a:r>
            <a:r>
              <a:rPr lang="en-GB" dirty="0" err="1"/>
              <a:t>Gráfico</a:t>
            </a:r>
            <a:r>
              <a:rPr lang="en-GB" dirty="0"/>
              <a:t> de dispersion y </a:t>
            </a:r>
            <a:r>
              <a:rPr lang="en-GB" dirty="0" err="1"/>
              <a:t>coeficiente</a:t>
            </a:r>
            <a:r>
              <a:rPr lang="en-GB" dirty="0"/>
              <a:t> de </a:t>
            </a:r>
            <a:r>
              <a:rPr lang="en-GB" dirty="0" err="1"/>
              <a:t>correlación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Numéricas</a:t>
            </a:r>
            <a:r>
              <a:rPr lang="en-GB" dirty="0"/>
              <a:t> vs </a:t>
            </a:r>
            <a:r>
              <a:rPr lang="en-GB" dirty="0" err="1"/>
              <a:t>Categóricas</a:t>
            </a:r>
            <a:r>
              <a:rPr lang="en-GB" dirty="0"/>
              <a:t>: </a:t>
            </a:r>
            <a:r>
              <a:rPr lang="en-GB" dirty="0" err="1"/>
              <a:t>diagramas</a:t>
            </a:r>
            <a:r>
              <a:rPr lang="en-GB" dirty="0"/>
              <a:t> de </a:t>
            </a:r>
            <a:r>
              <a:rPr lang="en-GB" dirty="0" err="1"/>
              <a:t>cajas</a:t>
            </a:r>
            <a:r>
              <a:rPr lang="en-GB" dirty="0"/>
              <a:t> e </a:t>
            </a:r>
            <a:r>
              <a:rPr lang="en-GB" dirty="0" err="1"/>
              <a:t>histogramas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categoría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Categórica</a:t>
            </a:r>
            <a:r>
              <a:rPr lang="en-GB" dirty="0"/>
              <a:t> vs </a:t>
            </a:r>
            <a:r>
              <a:rPr lang="en-GB" dirty="0" err="1"/>
              <a:t>Categórica</a:t>
            </a:r>
            <a:r>
              <a:rPr lang="en-GB" dirty="0"/>
              <a:t>: </a:t>
            </a:r>
            <a:r>
              <a:rPr lang="en-GB" dirty="0" err="1"/>
              <a:t>Diagrama</a:t>
            </a:r>
            <a:r>
              <a:rPr lang="en-GB" dirty="0"/>
              <a:t> de barras de </a:t>
            </a:r>
            <a:r>
              <a:rPr lang="en-GB" dirty="0" err="1"/>
              <a:t>una</a:t>
            </a:r>
            <a:r>
              <a:rPr lang="en-GB" dirty="0"/>
              <a:t> variable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categoría</a:t>
            </a:r>
            <a:r>
              <a:rPr lang="en-GB" dirty="0"/>
              <a:t> de la </a:t>
            </a:r>
            <a:r>
              <a:rPr lang="en-GB" dirty="0" err="1"/>
              <a:t>otra</a:t>
            </a:r>
            <a:endParaRPr lang="en-GB" dirty="0"/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9090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160D-2CBD-FFA3-5A54-020C5E73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CF5D9-86D0-36A5-A962-EB92DA7AC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7" y="3229436"/>
            <a:ext cx="3727285" cy="1292267"/>
          </a:xfrm>
          <a:prstGeom prst="rect">
            <a:avLst/>
          </a:prstGeom>
        </p:spPr>
      </p:pic>
      <p:sp>
        <p:nvSpPr>
          <p:cNvPr id="4" name="Plus Sign 3">
            <a:extLst>
              <a:ext uri="{FF2B5EF4-FFF2-40B4-BE49-F238E27FC236}">
                <a16:creationId xmlns:a16="http://schemas.microsoft.com/office/drawing/2014/main" id="{C1EA67C0-E608-2DE7-E0A9-3E910A1EDF8C}"/>
              </a:ext>
            </a:extLst>
          </p:cNvPr>
          <p:cNvSpPr/>
          <p:nvPr/>
        </p:nvSpPr>
        <p:spPr>
          <a:xfrm>
            <a:off x="4982962" y="3381582"/>
            <a:ext cx="987973" cy="98797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Picture 4" descr="Google Colab - A Step-by-step Guide - AlgoTrading101 Blog">
            <a:extLst>
              <a:ext uri="{FF2B5EF4-FFF2-40B4-BE49-F238E27FC236}">
                <a16:creationId xmlns:a16="http://schemas.microsoft.com/office/drawing/2014/main" id="{8F0928BE-EAC5-C2D0-9B47-A199D1B7F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432" y="2397375"/>
            <a:ext cx="4812555" cy="3209974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22F4AEB-2633-3917-3332-1457CBBCB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769" y="1379354"/>
            <a:ext cx="11298462" cy="969836"/>
          </a:xfrm>
        </p:spPr>
        <p:txBody>
          <a:bodyPr/>
          <a:lstStyle/>
          <a:p>
            <a:r>
              <a:rPr lang="es-MX" sz="3575" dirty="0">
                <a:solidFill>
                  <a:srgbClr val="01548B"/>
                </a:solidFill>
              </a:rPr>
              <a:t>1.4 </a:t>
            </a:r>
            <a:r>
              <a:rPr lang="es-EC" sz="3575" dirty="0">
                <a:solidFill>
                  <a:srgbClr val="01548B"/>
                </a:solidFill>
              </a:rPr>
              <a:t>Uso del lenguaje de programación Python para procesamiento y análisis descriptivo de datos </a:t>
            </a:r>
            <a:endParaRPr lang="es-MX" sz="3575" dirty="0">
              <a:solidFill>
                <a:srgbClr val="01548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F3468-D558-CD1D-A4FD-5E6EFDEEC46B}"/>
              </a:ext>
            </a:extLst>
          </p:cNvPr>
          <p:cNvSpPr txBox="1"/>
          <p:nvPr/>
        </p:nvSpPr>
        <p:spPr>
          <a:xfrm>
            <a:off x="560867" y="5478646"/>
            <a:ext cx="10156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dirty="0"/>
              <a:t>Link del material:</a:t>
            </a:r>
            <a:endParaRPr lang="es-EC" b="1" dirty="0">
              <a:hlinkClick r:id="rId5"/>
            </a:endParaRPr>
          </a:p>
          <a:p>
            <a:r>
              <a:rPr lang="es-EC" dirty="0">
                <a:hlinkClick r:id="rId6"/>
              </a:rPr>
              <a:t>https://drive.google.com/drive/folders/1G3dZC9y5Chab94xANPp8SJH-5T_qW_Te?usp=drive_link</a:t>
            </a:r>
            <a:endParaRPr lang="es-EC" dirty="0"/>
          </a:p>
          <a:p>
            <a:endParaRPr lang="es-EC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1390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0F88D-A55D-294F-CFB2-8B763796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111D29-8244-8639-085F-255CF7A6E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13" y="1201494"/>
            <a:ext cx="11301772" cy="47846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7737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5B94-FF50-950E-AD04-104D2275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11BDDD3-7FF3-4F9D-35D9-7EC6EB13738F}"/>
              </a:ext>
            </a:extLst>
          </p:cNvPr>
          <p:cNvSpPr/>
          <p:nvPr/>
        </p:nvSpPr>
        <p:spPr>
          <a:xfrm>
            <a:off x="351703" y="1148315"/>
            <a:ext cx="872836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Estructura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de Datos: Data Frame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A6739-38C7-7B69-5C32-A760D06E6E0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39973" y="1820881"/>
            <a:ext cx="9679030" cy="4273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B13BC3-C66D-1CD1-1D0B-9E14F423A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200" y="3645829"/>
            <a:ext cx="4419827" cy="20638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4254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32DFC-9B6D-0C98-FFDF-CD645E5DD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">
            <a:extLst>
              <a:ext uri="{FF2B5EF4-FFF2-40B4-BE49-F238E27FC236}">
                <a16:creationId xmlns:a16="http://schemas.microsoft.com/office/drawing/2014/main" id="{774A0520-E8FB-67A7-A0DB-65E11246B8F1}"/>
              </a:ext>
            </a:extLst>
          </p:cNvPr>
          <p:cNvSpPr/>
          <p:nvPr/>
        </p:nvSpPr>
        <p:spPr>
          <a:xfrm>
            <a:off x="351703" y="1148315"/>
            <a:ext cx="872836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Estructura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de Datos: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Clases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48178-8C11-000A-31A7-15A3455A1E6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32713" y="2013445"/>
            <a:ext cx="7493385" cy="3105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7EBAD8-D8CC-648E-8CB2-BB00FEB18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64" y="2013445"/>
            <a:ext cx="4019823" cy="32656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947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BBA01-2DF0-890B-A54C-E70FEA37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">
            <a:extLst>
              <a:ext uri="{FF2B5EF4-FFF2-40B4-BE49-F238E27FC236}">
                <a16:creationId xmlns:a16="http://schemas.microsoft.com/office/drawing/2014/main" id="{8193E580-F50F-EC60-C3BC-B62E416B4C7B}"/>
              </a:ext>
            </a:extLst>
          </p:cNvPr>
          <p:cNvSpPr/>
          <p:nvPr/>
        </p:nvSpPr>
        <p:spPr>
          <a:xfrm>
            <a:off x="351702" y="1148315"/>
            <a:ext cx="1032338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 funciones para procesamiento: 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C32923-2C8F-8984-7AF2-25BC01AED06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29340" y="2319095"/>
            <a:ext cx="10340300" cy="25340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1273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6AFFC-B94B-2656-F7F9-AA4C3835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">
            <a:extLst>
              <a:ext uri="{FF2B5EF4-FFF2-40B4-BE49-F238E27FC236}">
                <a16:creationId xmlns:a16="http://schemas.microsoft.com/office/drawing/2014/main" id="{9629F628-90C5-4E8C-34B2-0ECB1930CB91}"/>
              </a:ext>
            </a:extLst>
          </p:cNvPr>
          <p:cNvSpPr/>
          <p:nvPr/>
        </p:nvSpPr>
        <p:spPr>
          <a:xfrm>
            <a:off x="351702" y="1148315"/>
            <a:ext cx="1032338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estadística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descriptiva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04DBD-12FB-D98F-49D1-BDF76AFEEA2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838298" y="1891807"/>
            <a:ext cx="9008391" cy="2080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A0EE71-5EA8-E392-2CC7-28BBE3334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08" y="4128448"/>
            <a:ext cx="3067208" cy="2368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B3DC51-BCD2-5F22-5E98-80779EB4F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104" y="4226878"/>
            <a:ext cx="1473276" cy="21718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7612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E31B-41C2-184D-FFC3-A780D141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">
            <a:extLst>
              <a:ext uri="{FF2B5EF4-FFF2-40B4-BE49-F238E27FC236}">
                <a16:creationId xmlns:a16="http://schemas.microsoft.com/office/drawing/2014/main" id="{C4F975C9-33D2-129A-35F7-4982158EA684}"/>
              </a:ext>
            </a:extLst>
          </p:cNvPr>
          <p:cNvSpPr/>
          <p:nvPr/>
        </p:nvSpPr>
        <p:spPr>
          <a:xfrm>
            <a:off x="351702" y="1148315"/>
            <a:ext cx="11067665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estadística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descriptive: seaborn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5D079-6C5E-D7E8-A3E1-94DC1457F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85" y="2196706"/>
            <a:ext cx="4166765" cy="1755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79E997-31B9-C760-B22F-0B58B3952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90" y="4014148"/>
            <a:ext cx="4047960" cy="2445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1ABB55-F909-3A86-FC54-FEC261ED1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4" y="2196705"/>
            <a:ext cx="5298701" cy="1755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FE81C-5E5E-5126-7788-38CFB2A4E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3185" y="4090743"/>
            <a:ext cx="3763397" cy="22920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05007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DB19B-D45A-C75D-CF43-107F6E22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22" y="3136606"/>
            <a:ext cx="10678283" cy="1520456"/>
          </a:xfrm>
        </p:spPr>
        <p:txBody>
          <a:bodyPr/>
          <a:lstStyle/>
          <a:p>
            <a:r>
              <a:rPr lang="en-GB" dirty="0"/>
              <a:t>Larose, C.D. and Larose, D.T. (2019). Data Science Using Python and R. </a:t>
            </a:r>
            <a:r>
              <a:rPr lang="es-EC" dirty="0"/>
              <a:t>John Wiley &amp; Sons, Inc. </a:t>
            </a:r>
            <a:r>
              <a:rPr lang="es-EC" dirty="0" err="1"/>
              <a:t>Print</a:t>
            </a:r>
            <a:r>
              <a:rPr lang="es-EC" dirty="0"/>
              <a:t> ISBN:9781119526810 |Online ISBN:9781119526865 |</a:t>
            </a:r>
            <a:r>
              <a:rPr lang="es-EC" dirty="0">
                <a:hlinkClick r:id="rId2"/>
              </a:rPr>
              <a:t>DOI:10.1002/9781119526865</a:t>
            </a:r>
            <a:endParaRPr lang="es-EC" dirty="0"/>
          </a:p>
          <a:p>
            <a:endParaRPr lang="es-EC" dirty="0"/>
          </a:p>
        </p:txBody>
      </p:sp>
      <p:sp>
        <p:nvSpPr>
          <p:cNvPr id="5" name="Rectángulo 1">
            <a:extLst>
              <a:ext uri="{FF2B5EF4-FFF2-40B4-BE49-F238E27FC236}">
                <a16:creationId xmlns:a16="http://schemas.microsoft.com/office/drawing/2014/main" id="{853AC4FB-9FAF-ECD5-B93B-AD3CF343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522319"/>
            <a:ext cx="11337962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Referencias</a:t>
            </a:r>
            <a:r>
              <a:rPr lang="en-GB" sz="3575" b="1" dirty="0">
                <a:solidFill>
                  <a:srgbClr val="01548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3575" b="1" dirty="0" err="1">
                <a:solidFill>
                  <a:srgbClr val="01548B"/>
                </a:solidFill>
                <a:latin typeface="+mj-lt"/>
                <a:ea typeface="+mj-ea"/>
                <a:cs typeface="+mj-cs"/>
              </a:rPr>
              <a:t>bibliográficas</a:t>
            </a:r>
            <a:endParaRPr lang="es-EC" sz="3575" b="1" dirty="0">
              <a:solidFill>
                <a:srgbClr val="01548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4386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027928" y="2808572"/>
            <a:ext cx="6136143" cy="2588619"/>
          </a:xfrm>
        </p:spPr>
        <p:txBody>
          <a:bodyPr/>
          <a:lstStyle/>
          <a:p>
            <a:pPr algn="ctr"/>
            <a:r>
              <a:rPr lang="es-MX" b="1" dirty="0"/>
              <a:t>FIN DE LA UNIDAD I</a:t>
            </a:r>
            <a:endParaRPr lang="es-EC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93799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7"/>
  <p:tag name="ARTICULATE_DESIGN_ID_TEMA1ONLINE" val="Bp56PRfO"/>
  <p:tag name="TAG_BACKING_FORM_KEY" val="1443762-c:\users\uteg\desktop\01 plantilla ppt.pptx"/>
  <p:tag name="ARTICULATE_PROJECT_OPEN" val="0"/>
  <p:tag name="ARTICULATE_SLIDE_THUMBNAIL_REFRESH" val="1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DIO_ID" val="260"/>
  <p:tag name="ARTICULATE_USED_LAYOUT" val="4"/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DIO_ID" val="261"/>
  <p:tag name="ARTICULATE_USED_LAYOUT" val="4"/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DIO_ID" val="262"/>
  <p:tag name="ARTICULATE_USED_LAYOUT" val="4"/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1On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Online" id="{CB2823A8-F6FB-4344-8994-7797559E7E97}" vid="{2E172A39-A5F6-4451-8E1F-8FBA119B14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Tema1Online</Template>
  <TotalTime>1854</TotalTime>
  <Words>1803</Words>
  <Application>Microsoft Office PowerPoint</Application>
  <PresentationFormat>Widescreen</PresentationFormat>
  <Paragraphs>619</Paragraphs>
  <Slides>37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 Narrow</vt:lpstr>
      <vt:lpstr>Arial</vt:lpstr>
      <vt:lpstr>Calibri</vt:lpstr>
      <vt:lpstr>Calibri Light</vt:lpstr>
      <vt:lpstr>Verdana</vt:lpstr>
      <vt:lpstr>Wingdings</vt:lpstr>
      <vt:lpstr>Tema1Online</vt:lpstr>
      <vt:lpstr>Métodos Estadísticos para el Análisis y Procesamiento de Datos Masivos</vt:lpstr>
      <vt:lpstr>Unidad I – Análisis descriptivo de datos utilizando lenguaje estadístico R y lenguaje de programación Python </vt:lpstr>
      <vt:lpstr>Compromisos del estudiante.</vt:lpstr>
      <vt:lpstr>Compromisos del docente</vt:lpstr>
      <vt:lpstr>Instrucciones de estudio de la materia</vt:lpstr>
      <vt:lpstr>Objetivos</vt:lpstr>
      <vt:lpstr>1.1 Introducción a Estadística descriptiva</vt:lpstr>
      <vt:lpstr>Tipos de variables</vt:lpstr>
      <vt:lpstr>¿Qué es un conjunto de datos?</vt:lpstr>
      <vt:lpstr>Estadística Descriptiva: Tablas y gráficos</vt:lpstr>
      <vt:lpstr>Estadística Descriptiva: Tablas y gráficos</vt:lpstr>
      <vt:lpstr>Estadística Descriptiva: Medidas de resumen</vt:lpstr>
      <vt:lpstr>Estadística Descriptiva: Medidas de resumen</vt:lpstr>
      <vt:lpstr>Estadística Descriptiva: Medidas de resumen</vt:lpstr>
      <vt:lpstr>Estadística Descriptiva: Correlación</vt:lpstr>
      <vt:lpstr>Estadística Descriptiva: Correlación</vt:lpstr>
      <vt:lpstr>Actividad en clase: Estudio descriptivo de conjunto de datos</vt:lpstr>
      <vt:lpstr>1.2 Obtención y limpieza de datos </vt:lpstr>
      <vt:lpstr>¿Qué es un conjunto de datos?</vt:lpstr>
      <vt:lpstr>1.3 Uso del lenguaje estadístico R para procesamiento y análisis descriptivo de datos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1.4 Uso del lenguaje de programación Python para procesamiento y análisis descriptivo de datos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Referencias bibliográficas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Italino Torres Navarrete</dc:creator>
  <cp:lastModifiedBy>Andrea Cristina Garcia Angulo</cp:lastModifiedBy>
  <cp:revision>91</cp:revision>
  <dcterms:created xsi:type="dcterms:W3CDTF">2017-04-11T18:56:01Z</dcterms:created>
  <dcterms:modified xsi:type="dcterms:W3CDTF">2026-07-02T23:12:22Z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Path">
    <vt:lpwstr>Presentación3</vt:lpwstr>
  </property>
  <property fmtid="{D5CDD505-2E9C-101B-9397-08002B2CF9AE}" pid="3" name="ArticulateProjectVersion">
    <vt:lpwstr>7</vt:lpwstr>
  </property>
  <property fmtid="{D5CDD505-2E9C-101B-9397-08002B2CF9AE}" pid="4" name="ArticulateUseProject">
    <vt:lpwstr>1</vt:lpwstr>
  </property>
  <property fmtid="{D5CDD505-2E9C-101B-9397-08002B2CF9AE}" pid="5" name="ArticulateGUID">
    <vt:lpwstr>5C5C4E0E-D1C9-4021-92E9-D544739AA4B1</vt:lpwstr>
  </property>
  <property fmtid="{D5CDD505-2E9C-101B-9397-08002B2CF9AE}" pid="6" name="ArticulateProjectFull">
    <vt:lpwstr>C:\Users\UTEG\Desktop\01 Plantilla PPT.ppta</vt:lpwstr>
  </property>
</Properties>
</file>